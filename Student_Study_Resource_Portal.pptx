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mc_tech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84048"/>
            <a:ext cx="1691640" cy="13124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60320" y="365760"/>
            <a:ext cx="889985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700" b="1">
                <a:solidFill>
                  <a:srgbClr val="2D124D"/>
                </a:solidFill>
                <a:latin typeface="Segoe UI"/>
              </a:defRPr>
            </a:pPr>
            <a:r>
              <a:t>ER. PERUMAL MANIMEKALAI COLLEGE OF ENGINEERING</a:t>
            </a:r>
          </a:p>
          <a:p>
            <a:pPr algn="r">
              <a:defRPr sz="1100" b="1">
                <a:solidFill>
                  <a:srgbClr val="475569"/>
                </a:solidFill>
                <a:latin typeface="Segoe UI"/>
              </a:defRPr>
            </a:pPr>
            <a:r>
              <a:t>AN AUTONOMOUS INSTITUTION • HOSUR – 635 117</a:t>
            </a:r>
          </a:p>
          <a:p>
            <a:pPr algn="r">
              <a:defRPr sz="1300" b="1">
                <a:solidFill>
                  <a:srgbClr val="EA580C"/>
                </a:solidFill>
                <a:latin typeface="Segoe UI"/>
              </a:defRPr>
            </a:pPr>
            <a:r>
              <a:t>DEPARTMENT OF INFORMATION TECHNOLOGY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10728655" cy="320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728655" cy="1572768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32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400" b="1">
                <a:solidFill>
                  <a:srgbClr val="2D124D"/>
                </a:solidFill>
                <a:latin typeface="Segoe UI"/>
              </a:defRPr>
            </a:pPr>
            <a:r>
              <a:t>Student Study Resource Portal</a:t>
            </a:r>
          </a:p>
          <a:p>
            <a:pPr algn="ctr">
              <a:defRPr sz="1350">
                <a:solidFill>
                  <a:srgbClr val="63279B"/>
                </a:solidFill>
                <a:latin typeface="Segoe UI"/>
              </a:defRPr>
            </a:pPr>
            <a:r>
              <a:t>A Modern Academic Learning Hub &amp; Study Material Sharing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1691640"/>
            <a:ext cx="1920240" cy="329184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PROJECT TITLE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30752"/>
            <a:ext cx="6400800" cy="2697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3584448"/>
            <a:ext cx="2011680" cy="329184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PRESENTED BY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4096512"/>
            <a:ext cx="1874519" cy="822960"/>
          </a:xfrm>
          <a:prstGeom prst="roundRect">
            <a:avLst/>
          </a:prstGeom>
          <a:solidFill>
            <a:srgbClr val="EEEAF9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D124D"/>
                </a:solidFill>
                <a:latin typeface="Segoe UI"/>
              </a:defRPr>
            </a:pPr>
            <a:r>
              <a:t>S. Keerthana</a:t>
            </a:r>
          </a:p>
          <a:p>
            <a:pPr algn="ctr">
              <a:defRPr sz="950">
                <a:solidFill>
                  <a:srgbClr val="475569"/>
                </a:solidFill>
                <a:latin typeface="Segoe UI"/>
              </a:defRPr>
            </a:pPr>
            <a:r>
              <a:t>B.Tech 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99231" y="4096512"/>
            <a:ext cx="1874519" cy="822960"/>
          </a:xfrm>
          <a:prstGeom prst="roundRect">
            <a:avLst/>
          </a:prstGeom>
          <a:solidFill>
            <a:srgbClr val="EEEAF9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D124D"/>
                </a:solidFill>
                <a:latin typeface="Segoe UI"/>
              </a:defRPr>
            </a:pPr>
            <a:r>
              <a:t>G. Kirthimaha</a:t>
            </a:r>
          </a:p>
          <a:p>
            <a:pPr algn="ctr">
              <a:defRPr sz="950">
                <a:solidFill>
                  <a:srgbClr val="475569"/>
                </a:solidFill>
                <a:latin typeface="Segoe UI"/>
              </a:defRPr>
            </a:pPr>
            <a:r>
              <a:t>B.Tech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38342" y="4096512"/>
            <a:ext cx="1874519" cy="822960"/>
          </a:xfrm>
          <a:prstGeom prst="roundRect">
            <a:avLst/>
          </a:prstGeom>
          <a:solidFill>
            <a:srgbClr val="EEEAF9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D124D"/>
                </a:solidFill>
                <a:latin typeface="Segoe UI"/>
              </a:defRPr>
            </a:pPr>
            <a:r>
              <a:t>K. Keerthana</a:t>
            </a:r>
          </a:p>
          <a:p>
            <a:pPr algn="ctr">
              <a:defRPr sz="950">
                <a:solidFill>
                  <a:srgbClr val="475569"/>
                </a:solidFill>
                <a:latin typeface="Segoe UI"/>
              </a:defRPr>
            </a:pPr>
            <a:r>
              <a:t>B.Tech 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75105" y="5148072"/>
            <a:ext cx="1874519" cy="822960"/>
          </a:xfrm>
          <a:prstGeom prst="roundRect">
            <a:avLst/>
          </a:prstGeom>
          <a:solidFill>
            <a:srgbClr val="EEEAF9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D124D"/>
                </a:solidFill>
                <a:latin typeface="Segoe UI"/>
              </a:defRPr>
            </a:pPr>
            <a:r>
              <a:t>R. Madhu Shri</a:t>
            </a:r>
          </a:p>
          <a:p>
            <a:pPr algn="ctr">
              <a:defRPr sz="950">
                <a:solidFill>
                  <a:srgbClr val="475569"/>
                </a:solidFill>
                <a:latin typeface="Segoe UI"/>
              </a:defRPr>
            </a:pPr>
            <a:r>
              <a:t>B.Tech 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14216" y="5148072"/>
            <a:ext cx="1874519" cy="822960"/>
          </a:xfrm>
          <a:prstGeom prst="roundRect">
            <a:avLst/>
          </a:prstGeom>
          <a:solidFill>
            <a:srgbClr val="EEEAF9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D124D"/>
                </a:solidFill>
                <a:latin typeface="Segoe UI"/>
              </a:defRPr>
            </a:pPr>
            <a:r>
              <a:t>S. Madhumita</a:t>
            </a:r>
          </a:p>
          <a:p>
            <a:pPr algn="ctr">
              <a:defRPr sz="950">
                <a:solidFill>
                  <a:srgbClr val="475569"/>
                </a:solidFill>
                <a:latin typeface="Segoe UI"/>
              </a:defRPr>
            </a:pPr>
            <a:r>
              <a:t>B.Tech 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3730752"/>
            <a:ext cx="4007815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>
              <a:defRPr sz="1600" b="1">
                <a:solidFill>
                  <a:srgbClr val="2D124D"/>
                </a:solidFill>
                <a:latin typeface="Segoe UI"/>
              </a:defRPr>
            </a:pPr>
            <a:r>
              <a:t>Dr. Sathish</a:t>
            </a:r>
          </a:p>
          <a:p>
            <a:pPr algn="l">
              <a:defRPr sz="1200" b="1">
                <a:solidFill>
                  <a:srgbClr val="EA580C"/>
                </a:solidFill>
                <a:latin typeface="Segoe UI"/>
              </a:defRPr>
            </a:pPr>
            <a:r>
              <a:t>Designation: HOD</a:t>
            </a:r>
          </a:p>
          <a:p>
            <a:pPr algn="l">
              <a:defRPr sz="1050">
                <a:solidFill>
                  <a:srgbClr val="475569"/>
                </a:solidFill>
                <a:latin typeface="Segoe UI"/>
              </a:defRPr>
            </a:pPr>
            <a:r>
              <a:t>Department of Information Technology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3584448"/>
            <a:ext cx="1645920" cy="329184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STAFF GUIDE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5193792"/>
            <a:ext cx="4007815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32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>
              <a:defRPr sz="1600" b="1">
                <a:solidFill>
                  <a:srgbClr val="2D124D"/>
                </a:solidFill>
                <a:latin typeface="Segoe UI"/>
              </a:defRPr>
            </a:pPr>
            <a:r>
              <a:t>M. Sowbhagya Lakshmi</a:t>
            </a:r>
          </a:p>
          <a:p>
            <a:pPr algn="l">
              <a:defRPr sz="1200" b="1">
                <a:solidFill>
                  <a:srgbClr val="63279B"/>
                </a:solidFill>
                <a:latin typeface="Segoe UI"/>
              </a:defRPr>
            </a:pPr>
            <a:r>
              <a:t>Designation: Student</a:t>
            </a:r>
          </a:p>
          <a:p>
            <a:pPr algn="l">
              <a:defRPr sz="1050">
                <a:solidFill>
                  <a:srgbClr val="475569"/>
                </a:solidFill>
                <a:latin typeface="Segoe UI"/>
              </a:defRPr>
            </a:pPr>
            <a:r>
              <a:t>Department of Information Technology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5047488"/>
            <a:ext cx="1737360" cy="329184"/>
          </a:xfrm>
          <a:prstGeom prst="roundRect">
            <a:avLst/>
          </a:prstGeom>
          <a:solidFill>
            <a:srgbClr val="632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STUDENT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3474720" cy="292608"/>
          </a:xfrm>
          <a:prstGeom prst="roundRect">
            <a:avLst/>
          </a:prstGeom>
          <a:solidFill>
            <a:srgbClr val="EEEAF9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950" b="1">
                <a:solidFill>
                  <a:srgbClr val="63279B"/>
                </a:solidFill>
                <a:latin typeface="Segoe UI"/>
              </a:defRPr>
            </a:pPr>
            <a:r>
              <a:t>●  PROJECT BACKGROUND &amp;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D124D"/>
                </a:solidFill>
                <a:latin typeface="Segoe UI"/>
              </a:defRPr>
            </a:pPr>
            <a:r>
              <a:t>Introduction &amp; 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2860"/>
          </a:xfrm>
          <a:prstGeom prst="rect">
            <a:avLst/>
          </a:prstGeom>
          <a:solidFill>
            <a:srgbClr val="DDD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548640" cy="548640"/>
          </a:xfrm>
          <a:prstGeom prst="roundRect">
            <a:avLst/>
          </a:prstGeom>
          <a:solidFill>
            <a:srgbClr val="632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755648"/>
            <a:ext cx="4160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D124D"/>
                </a:solidFill>
                <a:latin typeface="Segoe UI"/>
              </a:defRPr>
            </a:pPr>
            <a:r>
              <a:t>Fragmented &amp; Lost Study Materials</a:t>
            </a:r>
          </a:p>
          <a:p>
            <a:pPr>
              <a:defRPr sz="980">
                <a:solidFill>
                  <a:srgbClr val="475569"/>
                </a:solidFill>
                <a:latin typeface="Segoe UI"/>
              </a:defRPr>
            </a:pPr>
            <a:r>
              <a:t>Critical syllabus notes, lab codes, and manuals are scattered across chaotic WhatsApp groups, personal Google Drives, and loose paper sheets, leading to lost files during exam preparation.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246120"/>
            <a:ext cx="4846320" cy="329184"/>
          </a:xfrm>
          <a:prstGeom prst="roundRect">
            <a:avLst/>
          </a:prstGeom>
          <a:solidFill>
            <a:srgbClr val="EEEAF9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919" b="1">
                <a:solidFill>
                  <a:srgbClr val="63279B"/>
                </a:solidFill>
                <a:latin typeface="Segoe UI"/>
              </a:defRPr>
            </a:pPr>
            <a:r>
              <a:t>⚠️  Bottleneck: 45+ minutes lost hunting across chats per revision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645920"/>
            <a:ext cx="52120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28232" y="1828800"/>
            <a:ext cx="548640" cy="5486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4032" y="1755648"/>
            <a:ext cx="4160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D124D"/>
                </a:solidFill>
                <a:latin typeface="Segoe UI"/>
              </a:defRPr>
            </a:pPr>
            <a:r>
              <a:t>Inconsistent &amp; Unverified Quality</a:t>
            </a:r>
          </a:p>
          <a:p>
            <a:pPr>
              <a:defRPr sz="980">
                <a:solidFill>
                  <a:srgbClr val="475569"/>
                </a:solidFill>
                <a:latin typeface="Segoe UI"/>
              </a:defRPr>
            </a:pPr>
            <a:r>
              <a:t>Informally circulated notes frequently suffer from incomplete derivations, missing diagrams, and broken code snippets without faculty or peer verification mechanisms.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28232" y="3246120"/>
            <a:ext cx="4846320" cy="329184"/>
          </a:xfrm>
          <a:prstGeom prst="roundRect">
            <a:avLst/>
          </a:prstGeom>
          <a:solidFill>
            <a:srgbClr val="EEEAF9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919" b="1">
                <a:solidFill>
                  <a:srgbClr val="EA580C"/>
                </a:solidFill>
                <a:latin typeface="Segoe UI"/>
              </a:defRPr>
            </a:pPr>
            <a:r>
              <a:t>❌  Academic Risk: Misleading syntax and exam score deductions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86200"/>
            <a:ext cx="52120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4069080"/>
            <a:ext cx="548640" cy="5486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995928"/>
            <a:ext cx="4160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D124D"/>
                </a:solidFill>
                <a:latin typeface="Segoe UI"/>
              </a:defRPr>
            </a:pPr>
            <a:r>
              <a:t>Missing Question Papers &amp; Syllabi</a:t>
            </a:r>
          </a:p>
          <a:p>
            <a:pPr>
              <a:defRPr sz="980">
                <a:solidFill>
                  <a:srgbClr val="475569"/>
                </a:solidFill>
                <a:latin typeface="Segoe UI"/>
              </a:defRPr>
            </a:pPr>
            <a:r>
              <a:t>Students struggle to access authentic previous year autonomous question papers (PYQs) and regulation syllabus documents in a single structured repository.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486400"/>
            <a:ext cx="4846320" cy="329184"/>
          </a:xfrm>
          <a:prstGeom prst="roundRect">
            <a:avLst/>
          </a:prstGeom>
          <a:solidFill>
            <a:srgbClr val="EEEAF9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919" b="1">
                <a:solidFill>
                  <a:srgbClr val="7C3AED"/>
                </a:solidFill>
                <a:latin typeface="Segoe UI"/>
              </a:defRPr>
            </a:pPr>
            <a:r>
              <a:t>📑  Gap: No centralized year-wise question bank archive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886200"/>
            <a:ext cx="52120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8232" y="4069080"/>
            <a:ext cx="548640" cy="548640"/>
          </a:xfrm>
          <a:prstGeom prst="roundRect">
            <a:avLst/>
          </a:prstGeom>
          <a:solidFill>
            <a:srgbClr val="2D1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2" y="3995928"/>
            <a:ext cx="4160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D124D"/>
                </a:solidFill>
                <a:latin typeface="Segoe UI"/>
              </a:defRPr>
            </a:pPr>
            <a:r>
              <a:t>Poor Mobile &amp; Search Experience</a:t>
            </a:r>
          </a:p>
          <a:p>
            <a:pPr>
              <a:defRPr sz="980">
                <a:solidFill>
                  <a:srgbClr val="475569"/>
                </a:solidFill>
                <a:latin typeface="Segoe UI"/>
              </a:defRPr>
            </a:pPr>
            <a:r>
              <a:t>Large scanned PDFs are cumbersome to read on smartphones and lack instant keyword search, pre-formatted code copying, or clean offline print-to-PDF export.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28232" y="5486400"/>
            <a:ext cx="4846320" cy="329184"/>
          </a:xfrm>
          <a:prstGeom prst="roundRect">
            <a:avLst/>
          </a:prstGeom>
          <a:solidFill>
            <a:srgbClr val="EEEAF9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919" b="1">
                <a:solidFill>
                  <a:srgbClr val="2D124D"/>
                </a:solidFill>
                <a:latin typeface="Segoe UI"/>
              </a:defRPr>
            </a:pPr>
            <a:r>
              <a:t>📱  Barrier: Hard to study on mobile or during transit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989320"/>
            <a:ext cx="10728655" cy="50292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000" b="1">
                <a:solidFill>
                  <a:srgbClr val="EA580C"/>
                </a:solidFill>
                <a:latin typeface="Segoe UI"/>
              </a:defRPr>
            </a:pPr>
            <a:r>
              <a:t>💡 Proposed Solution: Student Study Resource Portal delivers a verified, single-source learning platform with instant search, curated code, and previous exam question papers.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3474720" cy="292608"/>
          </a:xfrm>
          <a:prstGeom prst="roundRect">
            <a:avLst/>
          </a:prstGeom>
          <a:solidFill>
            <a:srgbClr val="EEEAF9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950" b="1">
                <a:solidFill>
                  <a:srgbClr val="63279B"/>
                </a:solidFill>
                <a:latin typeface="Segoe UI"/>
              </a:defRPr>
            </a:pPr>
            <a:r>
              <a:t>●  PROJECT GOALS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D124D"/>
                </a:solidFill>
                <a:latin typeface="Segoe UI"/>
              </a:defRPr>
            </a:pPr>
            <a:r>
              <a:t>Project Objectives &amp; Academic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2860"/>
          </a:xfrm>
          <a:prstGeom prst="rect">
            <a:avLst/>
          </a:prstGeom>
          <a:solidFill>
            <a:srgbClr val="DDD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182880" tIns="146304"/>
          <a:lstStyle/>
          <a:p>
            <a:pPr algn="ctr">
              <a:defRPr sz="1350" b="1">
                <a:solidFill>
                  <a:srgbClr val="2D124D"/>
                </a:solidFill>
                <a:latin typeface="Segoe UI"/>
              </a:defRPr>
            </a:pPr>
            <a:r>
              <a:t>🎯  Centralize Academic Resources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Establish a unified, high-availability web portal hosting verified semester notes, reference guides, lab manuals, and syllabus files across engineering departments.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64592" cy="2057400"/>
          </a:xfrm>
          <a:prstGeom prst="roundRect">
            <a:avLst/>
          </a:prstGeom>
          <a:solidFill>
            <a:srgbClr val="632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4128" y="3246120"/>
            <a:ext cx="4736592" cy="329184"/>
          </a:xfrm>
          <a:prstGeom prst="roundRect">
            <a:avLst/>
          </a:prstGeom>
          <a:solidFill>
            <a:srgbClr val="EEEAF9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900" b="1">
                <a:solidFill>
                  <a:srgbClr val="63279B"/>
                </a:solidFill>
                <a:latin typeface="Segoe UI"/>
              </a:defRPr>
            </a:pPr>
            <a:r>
              <a:t>★  Target: Deliver a single verified source of truth for all IT &amp; Engineering students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645920"/>
            <a:ext cx="52120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182880" tIns="146304"/>
          <a:lstStyle/>
          <a:p>
            <a:pPr algn="ctr">
              <a:defRPr sz="1350" b="1">
                <a:solidFill>
                  <a:srgbClr val="2D124D"/>
                </a:solidFill>
                <a:latin typeface="Segoe UI"/>
              </a:defRPr>
            </a:pPr>
            <a:r>
              <a:t>⚡  Sub-Second Search &amp; Subject Filtering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Implement real-time client-side keyword matching, department filtering (IT, CSE, ECE, Mech, Civil), and interactive concept chips for instant study material discovery.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645920"/>
            <a:ext cx="164592" cy="20574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37960" y="3246120"/>
            <a:ext cx="4736592" cy="329184"/>
          </a:xfrm>
          <a:prstGeom prst="roundRect">
            <a:avLst/>
          </a:prstGeom>
          <a:solidFill>
            <a:srgbClr val="EEEAF9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900" b="1">
                <a:solidFill>
                  <a:srgbClr val="EA580C"/>
                </a:solidFill>
                <a:latin typeface="Segoe UI"/>
              </a:defRPr>
            </a:pPr>
            <a:r>
              <a:t>★  Target: Zero reload delay; sub-millisecond query response on desktop and mobile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86200"/>
            <a:ext cx="52120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182880" tIns="146304"/>
          <a:lstStyle/>
          <a:p>
            <a:pPr algn="ctr">
              <a:defRPr sz="1350" b="1">
                <a:solidFill>
                  <a:srgbClr val="2D124D"/>
                </a:solidFill>
                <a:latin typeface="Segoe UI"/>
              </a:defRPr>
            </a:pPr>
            <a:r>
              <a:t>📤  Verified Peer-Contribution Pipeline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Empower students to upload study notes, lab solutions, and previous year question papers with multipart file validation and administrative moderation before publishing.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86200"/>
            <a:ext cx="164592" cy="20574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24128" y="5486400"/>
            <a:ext cx="4736592" cy="329184"/>
          </a:xfrm>
          <a:prstGeom prst="roundRect">
            <a:avLst/>
          </a:prstGeom>
          <a:solidFill>
            <a:srgbClr val="EEEAF9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900" b="1">
                <a:solidFill>
                  <a:srgbClr val="7C3AED"/>
                </a:solidFill>
                <a:latin typeface="Segoe UI"/>
              </a:defRPr>
            </a:pPr>
            <a:r>
              <a:t>★  Target: Secure Multer disk engine supporting academic files up to 25 MB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3886200"/>
            <a:ext cx="52120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182880" tIns="146304"/>
          <a:lstStyle/>
          <a:p>
            <a:pPr algn="ctr">
              <a:defRPr sz="1350" b="1">
                <a:solidFill>
                  <a:srgbClr val="2D124D"/>
                </a:solidFill>
                <a:latin typeface="Segoe UI"/>
              </a:defRPr>
            </a:pPr>
            <a:r>
              <a:t>💻  Interactive Study Aids &amp; Clean Export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Provide in-browser syntax-styled code snippets with 1-click clipboard copy, client-side .txt note generation via HTML5 Blob, and clean browser print-to-PDF formatting.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3886200"/>
            <a:ext cx="164592" cy="20574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37960" y="5486400"/>
            <a:ext cx="4736592" cy="329184"/>
          </a:xfrm>
          <a:prstGeom prst="roundRect">
            <a:avLst/>
          </a:prstGeom>
          <a:solidFill>
            <a:srgbClr val="EEEAF9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★  Target: Frictionless offline exam hall revisions without third-party apps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989320"/>
            <a:ext cx="10728655" cy="502920"/>
          </a:xfrm>
          <a:prstGeom prst="roundRect">
            <a:avLst/>
          </a:prstGeom>
          <a:solidFill>
            <a:srgbClr val="EEEAF9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000" b="1">
                <a:solidFill>
                  <a:srgbClr val="63279B"/>
                </a:solidFill>
                <a:latin typeface="Segoe UI"/>
              </a:defRPr>
            </a:pPr>
            <a:r>
              <a:t>🏛️ Academic Scope: Designed specifically for Er. Perumal Manimekalai College of Engineering (Autonomous), supporting Anna University syllabus regulations and departmental curricula.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3474720" cy="292608"/>
          </a:xfrm>
          <a:prstGeom prst="roundRect">
            <a:avLst/>
          </a:prstGeom>
          <a:solidFill>
            <a:srgbClr val="EEEAF9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950" b="1">
                <a:solidFill>
                  <a:srgbClr val="63279B"/>
                </a:solidFill>
                <a:latin typeface="Segoe UI"/>
              </a:defRPr>
            </a:pPr>
            <a:r>
              <a:t>●  SYSTEM DESIGN &amp;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D124D"/>
                </a:solidFill>
                <a:latin typeface="Segoe UI"/>
              </a:defRPr>
            </a:pPr>
            <a:r>
              <a:t>System Architecture &amp; 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2860"/>
          </a:xfrm>
          <a:prstGeom prst="rect">
            <a:avLst/>
          </a:prstGeom>
          <a:solidFill>
            <a:srgbClr val="DDD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290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783080"/>
            <a:ext cx="3154680" cy="502920"/>
          </a:xfrm>
          <a:prstGeom prst="roundRect">
            <a:avLst/>
          </a:prstGeom>
          <a:solidFill>
            <a:srgbClr val="632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Tier 1: Presentation Layer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423160"/>
            <a:ext cx="3154680" cy="868680"/>
          </a:xfrm>
          <a:prstGeom prst="roundRect">
            <a:avLst/>
          </a:prstGeom>
          <a:solidFill>
            <a:srgbClr val="EEEAF9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050" b="1">
                <a:solidFill>
                  <a:srgbClr val="2D124D"/>
                </a:solidFill>
                <a:latin typeface="Segoe UI"/>
              </a:defRPr>
            </a:pPr>
            <a:r>
              <a:t>●  HTML5 Semantic Markup</a:t>
            </a:r>
          </a:p>
          <a:p>
            <a:pPr>
              <a:defRPr sz="880">
                <a:solidFill>
                  <a:srgbClr val="475569"/>
                </a:solidFill>
                <a:latin typeface="Segoe UI"/>
              </a:defRPr>
            </a:pPr>
            <a:r>
              <a:t>Structured views, responsive grid cards, and accessible modals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383280"/>
            <a:ext cx="3154680" cy="868680"/>
          </a:xfrm>
          <a:prstGeom prst="roundRect">
            <a:avLst/>
          </a:prstGeom>
          <a:solidFill>
            <a:srgbClr val="EEEAF9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050" b="1">
                <a:solidFill>
                  <a:srgbClr val="2D124D"/>
                </a:solidFill>
                <a:latin typeface="Segoe UI"/>
              </a:defRPr>
            </a:pPr>
            <a:r>
              <a:t>●  Vanilla CSS3 &amp; Tokens</a:t>
            </a:r>
          </a:p>
          <a:p>
            <a:pPr>
              <a:defRPr sz="880">
                <a:solidFill>
                  <a:srgbClr val="475569"/>
                </a:solidFill>
                <a:latin typeface="Segoe UI"/>
              </a:defRPr>
            </a:pPr>
            <a:r>
              <a:t>Glassmorphic effects, modern color variables, and @media print rules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343400"/>
            <a:ext cx="3154680" cy="868680"/>
          </a:xfrm>
          <a:prstGeom prst="roundRect">
            <a:avLst/>
          </a:prstGeom>
          <a:solidFill>
            <a:srgbClr val="EEEAF9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050" b="1">
                <a:solidFill>
                  <a:srgbClr val="2D124D"/>
                </a:solidFill>
                <a:latin typeface="Segoe UI"/>
              </a:defRPr>
            </a:pPr>
            <a:r>
              <a:t>●  Vanilla JavaScript ES6+</a:t>
            </a:r>
          </a:p>
          <a:p>
            <a:pPr>
              <a:defRPr sz="880">
                <a:solidFill>
                  <a:srgbClr val="475569"/>
                </a:solidFill>
                <a:latin typeface="Segoe UI"/>
              </a:defRPr>
            </a:pPr>
            <a:r>
              <a:t>Lightweight Single-Page App controller, state management, &amp; 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303520"/>
            <a:ext cx="3154680" cy="868680"/>
          </a:xfrm>
          <a:prstGeom prst="roundRect">
            <a:avLst/>
          </a:prstGeom>
          <a:solidFill>
            <a:srgbClr val="EEEAF9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050" b="1">
                <a:solidFill>
                  <a:srgbClr val="2D124D"/>
                </a:solidFill>
                <a:latin typeface="Segoe UI"/>
              </a:defRPr>
            </a:pPr>
            <a:r>
              <a:t>●  Modern Typography &amp; Icons</a:t>
            </a:r>
          </a:p>
          <a:p>
            <a:pPr>
              <a:defRPr sz="880">
                <a:solidFill>
                  <a:srgbClr val="475569"/>
                </a:solidFill>
                <a:latin typeface="Segoe UI"/>
              </a:defRPr>
            </a:pPr>
            <a:r>
              <a:t>Outfit, Segoe UI, JetBrains Mono code styles, and Font Awesome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976" y="1645920"/>
            <a:ext cx="34290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17136" y="1783080"/>
            <a:ext cx="3154680" cy="5029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Tier 2: Application / API Layer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7136" y="2423160"/>
            <a:ext cx="3154680" cy="868680"/>
          </a:xfrm>
          <a:prstGeom prst="roundRect">
            <a:avLst/>
          </a:prstGeom>
          <a:solidFill>
            <a:srgbClr val="EEEAF9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050" b="1">
                <a:solidFill>
                  <a:srgbClr val="2D124D"/>
                </a:solidFill>
                <a:latin typeface="Segoe UI"/>
              </a:defRPr>
            </a:pPr>
            <a:r>
              <a:t>●  Node.js Runtime</a:t>
            </a:r>
          </a:p>
          <a:p>
            <a:pPr>
              <a:defRPr sz="880">
                <a:solidFill>
                  <a:srgbClr val="475569"/>
                </a:solidFill>
                <a:latin typeface="Segoe UI"/>
              </a:defRPr>
            </a:pPr>
            <a:r>
              <a:t>High-performance, event-driven asynchronous JavaScript server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17136" y="3383280"/>
            <a:ext cx="3154680" cy="868680"/>
          </a:xfrm>
          <a:prstGeom prst="roundRect">
            <a:avLst/>
          </a:prstGeom>
          <a:solidFill>
            <a:srgbClr val="EEEAF9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050" b="1">
                <a:solidFill>
                  <a:srgbClr val="2D124D"/>
                </a:solidFill>
                <a:latin typeface="Segoe UI"/>
              </a:defRPr>
            </a:pPr>
            <a:r>
              <a:t>●  Express.js Framework</a:t>
            </a:r>
          </a:p>
          <a:p>
            <a:pPr>
              <a:defRPr sz="880">
                <a:solidFill>
                  <a:srgbClr val="475569"/>
                </a:solidFill>
                <a:latin typeface="Segoe UI"/>
              </a:defRPr>
            </a:pPr>
            <a:r>
              <a:t>RESTful API routing (/api/login, /api/upload, /api/resources)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17136" y="4343400"/>
            <a:ext cx="3154680" cy="868680"/>
          </a:xfrm>
          <a:prstGeom prst="roundRect">
            <a:avLst/>
          </a:prstGeom>
          <a:solidFill>
            <a:srgbClr val="EEEAF9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050" b="1">
                <a:solidFill>
                  <a:srgbClr val="2D124D"/>
                </a:solidFill>
                <a:latin typeface="Segoe UI"/>
              </a:defRPr>
            </a:pPr>
            <a:r>
              <a:t>●  bcryptjs &amp; Sessions</a:t>
            </a:r>
          </a:p>
          <a:p>
            <a:pPr>
              <a:defRPr sz="880">
                <a:solidFill>
                  <a:srgbClr val="475569"/>
                </a:solidFill>
                <a:latin typeface="Segoe UI"/>
              </a:defRPr>
            </a:pPr>
            <a:r>
              <a:t>Salted password hashing and encrypted cookie session management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17136" y="5303520"/>
            <a:ext cx="3154680" cy="868680"/>
          </a:xfrm>
          <a:prstGeom prst="roundRect">
            <a:avLst/>
          </a:prstGeom>
          <a:solidFill>
            <a:srgbClr val="EEEAF9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050" b="1">
                <a:solidFill>
                  <a:srgbClr val="2D124D"/>
                </a:solidFill>
                <a:latin typeface="Segoe UI"/>
              </a:defRPr>
            </a:pPr>
            <a:r>
              <a:t>●  Multer Disk Engine</a:t>
            </a:r>
          </a:p>
          <a:p>
            <a:pPr>
              <a:defRPr sz="880">
                <a:solidFill>
                  <a:srgbClr val="475569"/>
                </a:solidFill>
                <a:latin typeface="Segoe UI"/>
              </a:defRPr>
            </a:pPr>
            <a:r>
              <a:t>Multi-part form-data processor with strict 25 MB disk limits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28432" y="1645920"/>
            <a:ext cx="34290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65592" y="1783080"/>
            <a:ext cx="315468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Tier 3: Data &amp; Storage Layer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65592" y="2423160"/>
            <a:ext cx="3154680" cy="868680"/>
          </a:xfrm>
          <a:prstGeom prst="roundRect">
            <a:avLst/>
          </a:prstGeom>
          <a:solidFill>
            <a:srgbClr val="EEEAF9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050" b="1">
                <a:solidFill>
                  <a:srgbClr val="2D124D"/>
                </a:solidFill>
                <a:latin typeface="Segoe UI"/>
              </a:defRPr>
            </a:pPr>
            <a:r>
              <a:t>●  SQLite (better-sqlite3)</a:t>
            </a:r>
          </a:p>
          <a:p>
            <a:pPr>
              <a:defRPr sz="880">
                <a:solidFill>
                  <a:srgbClr val="475569"/>
                </a:solidFill>
                <a:latin typeface="Segoe UI"/>
              </a:defRPr>
            </a:pPr>
            <a:r>
              <a:t>Embedded zero-configuration database (studyportal.db)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65592" y="3383280"/>
            <a:ext cx="3154680" cy="868680"/>
          </a:xfrm>
          <a:prstGeom prst="roundRect">
            <a:avLst/>
          </a:prstGeom>
          <a:solidFill>
            <a:srgbClr val="EEEAF9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050" b="1">
                <a:solidFill>
                  <a:srgbClr val="2D124D"/>
                </a:solidFill>
                <a:latin typeface="Segoe UI"/>
              </a:defRPr>
            </a:pPr>
            <a:r>
              <a:t>●  Parameterized SQL Queries</a:t>
            </a:r>
          </a:p>
          <a:p>
            <a:pPr>
              <a:defRPr sz="880">
                <a:solidFill>
                  <a:srgbClr val="475569"/>
                </a:solidFill>
                <a:latin typeface="Segoe UI"/>
              </a:defRPr>
            </a:pPr>
            <a:r>
              <a:t>Pre-compiled safe queries guaranteeing SQL injection defense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4343400"/>
            <a:ext cx="3154680" cy="868680"/>
          </a:xfrm>
          <a:prstGeom prst="roundRect">
            <a:avLst/>
          </a:prstGeom>
          <a:solidFill>
            <a:srgbClr val="EEEAF9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050" b="1">
                <a:solidFill>
                  <a:srgbClr val="2D124D"/>
                </a:solidFill>
                <a:latin typeface="Segoe UI"/>
              </a:defRPr>
            </a:pPr>
            <a:r>
              <a:t>●  Document &amp; PDF Storage</a:t>
            </a:r>
          </a:p>
          <a:p>
            <a:pPr>
              <a:defRPr sz="880">
                <a:solidFill>
                  <a:srgbClr val="475569"/>
                </a:solidFill>
                <a:latin typeface="Segoe UI"/>
              </a:defRPr>
            </a:pPr>
            <a:r>
              <a:t>Sanitized file directory storage for lecture notes and PYQs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65592" y="5303520"/>
            <a:ext cx="3154680" cy="868680"/>
          </a:xfrm>
          <a:prstGeom prst="roundRect">
            <a:avLst/>
          </a:prstGeom>
          <a:solidFill>
            <a:srgbClr val="EEEAF9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050" b="1">
                <a:solidFill>
                  <a:srgbClr val="2D124D"/>
                </a:solidFill>
                <a:latin typeface="Segoe UI"/>
              </a:defRPr>
            </a:pPr>
            <a:r>
              <a:t>●  Nodemailer Email Service</a:t>
            </a:r>
          </a:p>
          <a:p>
            <a:pPr>
              <a:defRPr sz="880">
                <a:solidFill>
                  <a:srgbClr val="475569"/>
                </a:solidFill>
                <a:latin typeface="Segoe UI"/>
              </a:defRPr>
            </a:pPr>
            <a:r>
              <a:t>Automated email alerts for registrations and contribution reviews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3474720" cy="292608"/>
          </a:xfrm>
          <a:prstGeom prst="roundRect">
            <a:avLst/>
          </a:prstGeom>
          <a:solidFill>
            <a:srgbClr val="EEEAF9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950" b="1">
                <a:solidFill>
                  <a:srgbClr val="63279B"/>
                </a:solidFill>
                <a:latin typeface="Segoe UI"/>
              </a:defRPr>
            </a:pPr>
            <a:r>
              <a:t>●  PORTAL FEATURES &amp;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D124D"/>
                </a:solidFill>
                <a:latin typeface="Segoe UI"/>
              </a:defRPr>
            </a:pPr>
            <a:r>
              <a:t>Core Functional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2860"/>
          </a:xfrm>
          <a:prstGeom prst="rect">
            <a:avLst/>
          </a:prstGeom>
          <a:solidFill>
            <a:srgbClr val="DDD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290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1755648"/>
            <a:ext cx="3209544" cy="384048"/>
          </a:xfrm>
          <a:prstGeom prst="roundRect">
            <a:avLst/>
          </a:prstGeom>
          <a:solidFill>
            <a:srgbClr val="632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Segoe UI"/>
              </a:defRPr>
            </a:pPr>
            <a:r>
              <a:t>🏠  Home &amp; Student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176272"/>
            <a:ext cx="320954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Academic overview with department counters, feature highlight pills, quick navigation shortcuts, and real-time announcements.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999232"/>
            <a:ext cx="32095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63279B"/>
                </a:solidFill>
                <a:latin typeface="Segoe UI"/>
              </a:defRPr>
            </a:pPr>
            <a:r>
              <a:t>• Academic year 2026 header banner</a:t>
            </a:r>
          </a:p>
          <a:p>
            <a:pPr>
              <a:defRPr sz="880">
                <a:solidFill>
                  <a:srgbClr val="63279B"/>
                </a:solidFill>
                <a:latin typeface="Segoe UI"/>
              </a:defRPr>
            </a:pPr>
            <a:r>
              <a:t>• Live verified resources counter</a:t>
            </a:r>
          </a:p>
          <a:p>
            <a:pPr>
              <a:defRPr sz="880">
                <a:solidFill>
                  <a:srgbClr val="63279B"/>
                </a:solidFill>
                <a:latin typeface="Segoe UI"/>
              </a:defRPr>
            </a:pPr>
            <a:r>
              <a:t>• 1-click shortcut navigation pills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645920"/>
            <a:ext cx="34290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9704" y="1755648"/>
            <a:ext cx="3209544" cy="38404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Segoe UI"/>
              </a:defRPr>
            </a:pPr>
            <a:r>
              <a:t>📚  Curated Syllabus Notes Library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2176272"/>
            <a:ext cx="320954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Subject-organized repository with reading-time badges, unit summaries, and exam-oriented cheat-sheets for rapid revision.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704" y="2999232"/>
            <a:ext cx="32095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EA580C"/>
                </a:solidFill>
                <a:latin typeface="Segoe UI"/>
              </a:defRPr>
            </a:pPr>
            <a:r>
              <a:t>• Coverage: C, Web, Cloud, Java, Python</a:t>
            </a:r>
          </a:p>
          <a:p>
            <a:pPr>
              <a:defRPr sz="880">
                <a:solidFill>
                  <a:srgbClr val="EA580C"/>
                </a:solidFill>
                <a:latin typeface="Segoe UI"/>
              </a:defRPr>
            </a:pPr>
            <a:r>
              <a:t>• Department &amp; semester filter chips</a:t>
            </a:r>
          </a:p>
          <a:p>
            <a:pPr>
              <a:defRPr sz="880">
                <a:solidFill>
                  <a:srgbClr val="EA580C"/>
                </a:solidFill>
                <a:latin typeface="Segoe UI"/>
              </a:defRPr>
            </a:pPr>
            <a:r>
              <a:t>• Clean in-modal reading interface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2" y="1645920"/>
            <a:ext cx="34290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38160" y="1755648"/>
            <a:ext cx="3209544" cy="38404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Segoe UI"/>
              </a:defRPr>
            </a:pPr>
            <a:r>
              <a:t>📑  Question Papers (PYQ) Archive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176272"/>
            <a:ext cx="320954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Dedicated autonomous and Anna University previous question papers organized by semester, subject code, and regulation.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999232"/>
            <a:ext cx="32095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7C3AED"/>
                </a:solidFill>
                <a:latin typeface="Segoe UI"/>
              </a:defRPr>
            </a:pPr>
            <a:r>
              <a:t>• Semester-wise exam paper bank</a:t>
            </a:r>
          </a:p>
          <a:p>
            <a:pPr>
              <a:defRPr sz="880">
                <a:solidFill>
                  <a:srgbClr val="7C3AED"/>
                </a:solidFill>
                <a:latin typeface="Segoe UI"/>
              </a:defRPr>
            </a:pPr>
            <a:r>
              <a:t>• Direct download &amp; preview links</a:t>
            </a:r>
          </a:p>
          <a:p>
            <a:pPr>
              <a:defRPr sz="880">
                <a:solidFill>
                  <a:srgbClr val="7C3AED"/>
                </a:solidFill>
                <a:latin typeface="Segoe UI"/>
              </a:defRPr>
            </a:pPr>
            <a:r>
              <a:t>• Model answers and question patterns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114800"/>
            <a:ext cx="34290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1248" y="4224528"/>
            <a:ext cx="3209544" cy="384048"/>
          </a:xfrm>
          <a:prstGeom prst="roundRect">
            <a:avLst/>
          </a:prstGeom>
          <a:solidFill>
            <a:srgbClr val="2D1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Segoe UI"/>
              </a:defRPr>
            </a:pPr>
            <a:r>
              <a:t>📤  Peer Contribution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4645152"/>
            <a:ext cx="320954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Authenticated portal allowing students to upload study notes, lab solutions, and question papers with subject tags.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5468112"/>
            <a:ext cx="32095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2D124D"/>
                </a:solidFill>
                <a:latin typeface="Segoe UI"/>
              </a:defRPr>
            </a:pPr>
            <a:r>
              <a:t>• Multer engine supporting up to 25 MB</a:t>
            </a:r>
          </a:p>
          <a:p>
            <a:pPr>
              <a:defRPr sz="880">
                <a:solidFill>
                  <a:srgbClr val="2D124D"/>
                </a:solidFill>
                <a:latin typeface="Segoe UI"/>
              </a:defRPr>
            </a:pPr>
            <a:r>
              <a:t>• Metadata tagging (Branch, Sem, Unit)</a:t>
            </a:r>
          </a:p>
          <a:p>
            <a:pPr>
              <a:defRPr sz="880">
                <a:solidFill>
                  <a:srgbClr val="2D124D"/>
                </a:solidFill>
                <a:latin typeface="Segoe UI"/>
              </a:defRPr>
            </a:pPr>
            <a:r>
              <a:t>• Automated MIME type sanitization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9976" y="4114800"/>
            <a:ext cx="34290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89704" y="4224528"/>
            <a:ext cx="3209544" cy="38404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Segoe UI"/>
              </a:defRPr>
            </a:pPr>
            <a:r>
              <a:t>🛠️  Admin &amp; Guide Moderation Panel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9704" y="4645152"/>
            <a:ext cx="320954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Role-based console allowing Staff Guide (Dr. Sathish) and Student Guide to review, approve, or reject student uploads.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9704" y="5468112"/>
            <a:ext cx="32095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EA580C"/>
                </a:solidFill>
                <a:latin typeface="Segoe UI"/>
              </a:defRPr>
            </a:pPr>
            <a:r>
              <a:t>• Pending submission approval queue</a:t>
            </a:r>
          </a:p>
          <a:p>
            <a:pPr>
              <a:defRPr sz="880">
                <a:solidFill>
                  <a:srgbClr val="EA580C"/>
                </a:solidFill>
                <a:latin typeface="Segoe UI"/>
              </a:defRPr>
            </a:pPr>
            <a:r>
              <a:t>• Quality check before public visibility</a:t>
            </a:r>
          </a:p>
          <a:p>
            <a:pPr>
              <a:defRPr sz="880">
                <a:solidFill>
                  <a:srgbClr val="EA580C"/>
                </a:solidFill>
                <a:latin typeface="Segoe UI"/>
              </a:defRPr>
            </a:pPr>
            <a:r>
              <a:t>• Dynamic live catalog indexing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28432" y="4114800"/>
            <a:ext cx="34290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38160" y="4224528"/>
            <a:ext cx="3209544" cy="384048"/>
          </a:xfrm>
          <a:prstGeom prst="roundRect">
            <a:avLst/>
          </a:prstGeom>
          <a:solidFill>
            <a:srgbClr val="632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Segoe UI"/>
              </a:defRPr>
            </a:pPr>
            <a:r>
              <a:t>⚡  Interactive Code &amp; Export Tools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645152"/>
            <a:ext cx="320954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Hands-on study tools enabling instant code copying, client-side .txt note generation via Blob, and print-to-PDF export.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5468112"/>
            <a:ext cx="32095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63279B"/>
                </a:solidFill>
                <a:latin typeface="Segoe UI"/>
              </a:defRPr>
            </a:pPr>
            <a:r>
              <a:t>• Syntax-styled code box with 1-click copy</a:t>
            </a:r>
          </a:p>
          <a:p>
            <a:pPr>
              <a:defRPr sz="880">
                <a:solidFill>
                  <a:srgbClr val="63279B"/>
                </a:solidFill>
                <a:latin typeface="Segoe UI"/>
              </a:defRPr>
            </a:pPr>
            <a:r>
              <a:t>• Browser print-to-PDF formatting</a:t>
            </a:r>
          </a:p>
          <a:p>
            <a:pPr>
              <a:defRPr sz="880">
                <a:solidFill>
                  <a:srgbClr val="63279B"/>
                </a:solidFill>
                <a:latin typeface="Segoe UI"/>
              </a:defRPr>
            </a:pPr>
            <a:r>
              <a:t>• Zero external reader requirements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3474720" cy="292608"/>
          </a:xfrm>
          <a:prstGeom prst="roundRect">
            <a:avLst/>
          </a:prstGeom>
          <a:solidFill>
            <a:srgbClr val="EEEAF9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950" b="1">
                <a:solidFill>
                  <a:srgbClr val="63279B"/>
                </a:solidFill>
                <a:latin typeface="Segoe UI"/>
              </a:defRPr>
            </a:pPr>
            <a:r>
              <a:t>●  OPERATIONAL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D124D"/>
                </a:solidFill>
                <a:latin typeface="Segoe UI"/>
              </a:defRPr>
            </a:pPr>
            <a:r>
              <a:t>System Workflow &amp; Implementation Highlights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2860"/>
          </a:xfrm>
          <a:prstGeom prst="rect">
            <a:avLst/>
          </a:prstGeom>
          <a:solidFill>
            <a:srgbClr val="DDD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783080"/>
            <a:ext cx="1005840" cy="320040"/>
          </a:xfrm>
          <a:prstGeom prst="roundRect">
            <a:avLst/>
          </a:prstGeom>
          <a:solidFill>
            <a:srgbClr val="632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D124D"/>
                </a:solidFill>
                <a:latin typeface="Segoe UI"/>
              </a:defRPr>
            </a:pPr>
            <a:r>
              <a:t>🔐 Authentication &amp;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8892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475569"/>
                </a:solidFill>
                <a:latin typeface="Segoe UI"/>
              </a:defRPr>
            </a:pPr>
            <a:r>
              <a:t>Student enters credentials on Register/Login page. Backend hashes password via bcryptjs, validates uniqueness in SQLite, and establishes encrypted session cookie.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9476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63279B"/>
                </a:solidFill>
                <a:latin typeface="Segoe UI"/>
              </a:defRPr>
            </a:pPr>
            <a:r>
              <a:t>• Email validation check</a:t>
            </a:r>
          </a:p>
          <a:p>
            <a:pPr>
              <a:defRPr sz="850">
                <a:solidFill>
                  <a:srgbClr val="63279B"/>
                </a:solidFill>
                <a:latin typeface="Segoe UI"/>
              </a:defRPr>
            </a:pPr>
            <a:r>
              <a:t>• Salted bcryptjs hashing</a:t>
            </a:r>
          </a:p>
          <a:p>
            <a:pPr>
              <a:defRPr sz="850">
                <a:solidFill>
                  <a:srgbClr val="63279B"/>
                </a:solidFill>
                <a:latin typeface="Segoe UI"/>
              </a:defRPr>
            </a:pPr>
            <a:r>
              <a:t>• Encrypted session cookie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572000"/>
            <a:ext cx="2194560" cy="329184"/>
          </a:xfrm>
          <a:prstGeom prst="roundRect">
            <a:avLst/>
          </a:prstGeom>
          <a:solidFill>
            <a:srgbClr val="EEEAF9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80" b="1">
                <a:solidFill>
                  <a:srgbClr val="63279B"/>
                </a:solidFill>
                <a:latin typeface="Segoe UI"/>
              </a:defRPr>
            </a:pPr>
            <a:r>
              <a:t>⚙️  POST /api/login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47288" y="1645920"/>
            <a:ext cx="246888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84448" y="1783080"/>
            <a:ext cx="1005840" cy="3200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21488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D124D"/>
                </a:solidFill>
                <a:latin typeface="Segoe UI"/>
              </a:defRPr>
            </a:pPr>
            <a:r>
              <a:t>🔍 Search &amp; Discovery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278892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475569"/>
                </a:solidFill>
                <a:latin typeface="Segoe UI"/>
              </a:defRPr>
            </a:pPr>
            <a:r>
              <a:t>Student selects department &amp; semester. Real-time client listeners match keywords across titles, syllabi, and units with sub-millisecond response.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379476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EA580C"/>
                </a:solidFill>
                <a:latin typeface="Segoe UI"/>
              </a:defRPr>
            </a:pPr>
            <a:r>
              <a:t>• Real-time input listener</a:t>
            </a:r>
          </a:p>
          <a:p>
            <a:pPr>
              <a:defRPr sz="850">
                <a:solidFill>
                  <a:srgbClr val="EA580C"/>
                </a:solidFill>
                <a:latin typeface="Segoe UI"/>
              </a:defRPr>
            </a:pPr>
            <a:r>
              <a:t>• Subject chip toggle</a:t>
            </a:r>
          </a:p>
          <a:p>
            <a:pPr>
              <a:defRPr sz="850">
                <a:solidFill>
                  <a:srgbClr val="EA580C"/>
                </a:solidFill>
                <a:latin typeface="Segoe UI"/>
              </a:defRPr>
            </a:pPr>
            <a:r>
              <a:t>• Instant multi-field match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84448" y="4572000"/>
            <a:ext cx="2194560" cy="329184"/>
          </a:xfrm>
          <a:prstGeom prst="roundRect">
            <a:avLst/>
          </a:prstGeom>
          <a:solidFill>
            <a:srgbClr val="EEEAF9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80" b="1">
                <a:solidFill>
                  <a:srgbClr val="EA580C"/>
                </a:solidFill>
                <a:latin typeface="Segoe UI"/>
              </a:defRPr>
            </a:pPr>
            <a:r>
              <a:t>⚙️  Sub-Second Client Matching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1645920"/>
            <a:ext cx="246888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00216" y="1783080"/>
            <a:ext cx="1005840" cy="3200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21488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D124D"/>
                </a:solidFill>
                <a:latin typeface="Segoe UI"/>
              </a:defRPr>
            </a:pPr>
            <a:r>
              <a:t>📖 Study &amp; Code Export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216" y="278892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475569"/>
                </a:solidFill>
                <a:latin typeface="Segoe UI"/>
              </a:defRPr>
            </a:pPr>
            <a:r>
              <a:t>Modal reader presents structured syllabus notes and runnable code. Student uses 1-click copy to export code directly into their IDE or prints clean PDF.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0216" y="379476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7C3AED"/>
                </a:solidFill>
                <a:latin typeface="Segoe UI"/>
              </a:defRPr>
            </a:pPr>
            <a:r>
              <a:t>• Syntax-styled code box</a:t>
            </a:r>
          </a:p>
          <a:p>
            <a:pPr>
              <a:defRPr sz="850">
                <a:solidFill>
                  <a:srgbClr val="7C3AED"/>
                </a:solidFill>
                <a:latin typeface="Segoe UI"/>
              </a:defRPr>
            </a:pPr>
            <a:r>
              <a:t>• 1-click clipboard copy</a:t>
            </a:r>
          </a:p>
          <a:p>
            <a:pPr>
              <a:defRPr sz="850">
                <a:solidFill>
                  <a:srgbClr val="7C3AED"/>
                </a:solidFill>
                <a:latin typeface="Segoe UI"/>
              </a:defRPr>
            </a:pPr>
            <a:r>
              <a:t>• Clean @media print PDF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0216" y="4572000"/>
            <a:ext cx="2194560" cy="329184"/>
          </a:xfrm>
          <a:prstGeom prst="roundRect">
            <a:avLst/>
          </a:prstGeom>
          <a:solidFill>
            <a:srgbClr val="EEEAF9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80" b="1">
                <a:solidFill>
                  <a:srgbClr val="7C3AED"/>
                </a:solidFill>
                <a:latin typeface="Segoe UI"/>
              </a:defRPr>
            </a:pPr>
            <a:r>
              <a:t>⚙️  1-Click Clipboard &amp; Print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78824" y="1645920"/>
            <a:ext cx="246888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15984" y="1783080"/>
            <a:ext cx="1005840" cy="320040"/>
          </a:xfrm>
          <a:prstGeom prst="roundRect">
            <a:avLst/>
          </a:prstGeom>
          <a:solidFill>
            <a:srgbClr val="2D1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Step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21488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D124D"/>
                </a:solidFill>
                <a:latin typeface="Segoe UI"/>
              </a:defRPr>
            </a:pPr>
            <a:r>
              <a:t>📤 Contribution &amp;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15984" y="278892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475569"/>
                </a:solidFill>
                <a:latin typeface="Segoe UI"/>
              </a:defRPr>
            </a:pPr>
            <a:r>
              <a:t>Authenticated student uploads note or PYQ via Multer. Staff &amp; Student Guides review submission in moderation console before publishing to live catalog.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15984" y="379476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2D124D"/>
                </a:solidFill>
                <a:latin typeface="Segoe UI"/>
              </a:defRPr>
            </a:pPr>
            <a:r>
              <a:t>• 25 MB Multer disk storage</a:t>
            </a:r>
          </a:p>
          <a:p>
            <a:pPr>
              <a:defRPr sz="850">
                <a:solidFill>
                  <a:srgbClr val="2D124D"/>
                </a:solidFill>
                <a:latin typeface="Segoe UI"/>
              </a:defRPr>
            </a:pPr>
            <a:r>
              <a:t>• Guide review console</a:t>
            </a:r>
          </a:p>
          <a:p>
            <a:pPr>
              <a:defRPr sz="850">
                <a:solidFill>
                  <a:srgbClr val="2D124D"/>
                </a:solidFill>
                <a:latin typeface="Segoe UI"/>
              </a:defRPr>
            </a:pPr>
            <a:r>
              <a:t>• Instant catalog publish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15984" y="4572000"/>
            <a:ext cx="2194560" cy="329184"/>
          </a:xfrm>
          <a:prstGeom prst="roundRect">
            <a:avLst/>
          </a:prstGeom>
          <a:solidFill>
            <a:srgbClr val="EEEAF9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80" b="1">
                <a:solidFill>
                  <a:srgbClr val="2D124D"/>
                </a:solidFill>
                <a:latin typeface="Segoe UI"/>
              </a:defRPr>
            </a:pPr>
            <a:r>
              <a:t>⚙️  Multer &amp; Admin Approval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212080"/>
            <a:ext cx="10728655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250" b="1">
                <a:solidFill>
                  <a:srgbClr val="EA580C"/>
                </a:solidFill>
                <a:latin typeface="Segoe UI"/>
              </a:defRPr>
            </a:pPr>
            <a:r>
              <a:t>💻 Full-Stack Production Implementation Details</a:t>
            </a:r>
          </a:p>
          <a:p>
            <a:pPr>
              <a:defRPr sz="980">
                <a:solidFill>
                  <a:srgbClr val="1E1B4B"/>
                </a:solidFill>
                <a:latin typeface="Segoe UI"/>
              </a:defRPr>
            </a:pPr>
            <a:r>
              <a:t>• Modular Architecture: Structured Node.js + Express backend running database.js (SQLite persistence), server.js (REST APIs &amp; Multer upload limits), questionPapersData.js (curated autonomous PYQ catalog), and mailer.js (registration alerts).</a:t>
            </a:r>
          </a:p>
          <a:p>
            <a:pPr>
              <a:defRPr sz="980">
                <a:solidFill>
                  <a:srgbClr val="63279B"/>
                </a:solidFill>
                <a:latin typeface="Segoe UI"/>
              </a:defRPr>
            </a:pPr>
            <a:r>
              <a:t>• Zero-Dependency Frontend: High-performance Vanilla JS Single-Page Application (SPA) with responsive CSS glassmorphism, instant client search, and clean @media print export.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3474720" cy="292608"/>
          </a:xfrm>
          <a:prstGeom prst="roundRect">
            <a:avLst/>
          </a:prstGeom>
          <a:solidFill>
            <a:srgbClr val="EEEAF9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950" b="1">
                <a:solidFill>
                  <a:srgbClr val="63279B"/>
                </a:solidFill>
                <a:latin typeface="Segoe UI"/>
              </a:defRPr>
            </a:pPr>
            <a:r>
              <a:t>●  OUTCOMES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D124D"/>
                </a:solidFill>
                <a:latin typeface="Segoe UI"/>
              </a:defRPr>
            </a:pPr>
            <a:r>
              <a:t>Results, Academic Impact &amp; Future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2860"/>
          </a:xfrm>
          <a:prstGeom prst="rect">
            <a:avLst/>
          </a:prstGeom>
          <a:solidFill>
            <a:srgbClr val="DDD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160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783080"/>
            <a:ext cx="4937760" cy="438912"/>
          </a:xfrm>
          <a:prstGeom prst="roundRect">
            <a:avLst/>
          </a:prstGeom>
          <a:solidFill>
            <a:srgbClr val="632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🎓 Key Advantages &amp; Academic Impact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331720"/>
            <a:ext cx="4937760" cy="749808"/>
          </a:xfrm>
          <a:prstGeom prst="roundRect">
            <a:avLst/>
          </a:prstGeom>
          <a:solidFill>
            <a:srgbClr val="EEEAF9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>
              <a:defRPr sz="1000" b="1">
                <a:solidFill>
                  <a:srgbClr val="2D124D"/>
                </a:solidFill>
                <a:latin typeface="Segoe UI"/>
              </a:defRPr>
            </a:pPr>
            <a:r>
              <a:t>⚡ 80% Time Reduction in Resource Hunting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Eliminates frustrating searches across unorganized WhatsApp chats, providing verified syllabus notes and PYQs in sub-seconds.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172968"/>
            <a:ext cx="4937760" cy="749808"/>
          </a:xfrm>
          <a:prstGeom prst="roundRect">
            <a:avLst/>
          </a:prstGeom>
          <a:solidFill>
            <a:srgbClr val="EEEAF9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>
              <a:defRPr sz="1000" b="1">
                <a:solidFill>
                  <a:srgbClr val="2D124D"/>
                </a:solidFill>
                <a:latin typeface="Segoe UI"/>
              </a:defRPr>
            </a:pPr>
            <a:r>
              <a:t>🎯 100% Verified Academic Syllabus Accuracy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Faculty and guide moderation prevents the spread of inaccurate code, broken logic, and incomplete derivations.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014216"/>
            <a:ext cx="4937760" cy="749808"/>
          </a:xfrm>
          <a:prstGeom prst="roundRect">
            <a:avLst/>
          </a:prstGeom>
          <a:solidFill>
            <a:srgbClr val="EEEAF9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>
              <a:defRPr sz="1000" b="1">
                <a:solidFill>
                  <a:srgbClr val="2D124D"/>
                </a:solidFill>
                <a:latin typeface="Segoe UI"/>
              </a:defRPr>
            </a:pPr>
            <a:r>
              <a:t>🤝 Peer-Powered Collaboration Culture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Student contributors are credited for their quality uploads, encouraging a continuous culture of academic knowledge sharing.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855464"/>
            <a:ext cx="4937760" cy="749808"/>
          </a:xfrm>
          <a:prstGeom prst="roundRect">
            <a:avLst/>
          </a:prstGeom>
          <a:solidFill>
            <a:srgbClr val="EEEAF9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>
              <a:defRPr sz="1000" b="1">
                <a:solidFill>
                  <a:srgbClr val="2D124D"/>
                </a:solidFill>
                <a:latin typeface="Segoe UI"/>
              </a:defRPr>
            </a:pPr>
            <a:r>
              <a:t>📱 Frictionless Multi-Device Access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Seamless mobile and desktop responsiveness enables quick revision during transit, lab sessions, and right before exam hall entry.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8095" y="1645920"/>
            <a:ext cx="5212080" cy="4160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85255" y="1783080"/>
            <a:ext cx="4937760" cy="43891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🚀 Future Enhancements &amp; Technological Roadmap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85255" y="2331720"/>
            <a:ext cx="4937760" cy="74980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>
              <a:defRPr sz="1000" b="1">
                <a:solidFill>
                  <a:srgbClr val="EA580C"/>
                </a:solidFill>
                <a:latin typeface="Segoe UI"/>
              </a:defRPr>
            </a:pPr>
            <a:r>
              <a:t>🤖 Phase 1: AI Study Assistant &amp; Chat with Notes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Integrate LLM API to enable natural-language Q&amp;A directly on uploaded notes, automatic concept summarization, and mock quiz generation.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85255" y="3172968"/>
            <a:ext cx="4937760" cy="74980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>
              <a:defRPr sz="1000" b="1">
                <a:solidFill>
                  <a:srgbClr val="EA580C"/>
                </a:solidFill>
                <a:latin typeface="Segoe UI"/>
              </a:defRPr>
            </a:pPr>
            <a:r>
              <a:t>📱 Phase 2: Dedicated Mobile App (Android &amp; iOS)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Develop React Native / Flutter cross-platform mobile app with offline note caching and push alerts for newly uploaded question papers.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85255" y="4014216"/>
            <a:ext cx="4937760" cy="74980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>
              <a:defRPr sz="1000" b="1">
                <a:solidFill>
                  <a:srgbClr val="EA580C"/>
                </a:solidFill>
                <a:latin typeface="Segoe UI"/>
              </a:defRPr>
            </a:pPr>
            <a:r>
              <a:t>💬 Phase 3: Peer Discussion &amp; Doubt Solving Forum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Add interactive discussion threads where students can tag faculty, ask subject-specific doubts, and upvote the best student answers.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85255" y="4855464"/>
            <a:ext cx="4937760" cy="74980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>
              <a:defRPr sz="1000" b="1">
                <a:solidFill>
                  <a:srgbClr val="EA580C"/>
                </a:solidFill>
                <a:latin typeface="Segoe UI"/>
              </a:defRPr>
            </a:pPr>
            <a:r>
              <a:t>📊 Phase 4: Student Learning Analytics Dashboard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Provide student performance metrics, personal reading history bookmarks, and exam preparation readiness trackers.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943600"/>
            <a:ext cx="10728655" cy="548640"/>
          </a:xfrm>
          <a:prstGeom prst="roundRect">
            <a:avLst/>
          </a:prstGeom>
          <a:solidFill>
            <a:srgbClr val="EEEAF9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000" b="1">
                <a:solidFill>
                  <a:srgbClr val="63279B"/>
                </a:solidFill>
                <a:latin typeface="Segoe UI"/>
              </a:defRPr>
            </a:pPr>
            <a:r>
              <a:t>⭐ Key Takeaway: The portal successfully solves material fragmentation, establishes an autonomous learning hub, and lays a scalable foundation for modern digital education at PMC TECH.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hankyou_bg_a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645920" y="868680"/>
            <a:ext cx="8899855" cy="5120640"/>
          </a:xfrm>
          <a:prstGeom prst="roundRect">
            <a:avLst/>
          </a:prstGeom>
          <a:solidFill>
            <a:srgbClr val="180A2C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097280"/>
            <a:ext cx="85340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  <a:latin typeface="Segoe UI"/>
              </a:defRPr>
            </a:pPr>
            <a:r>
              <a:t>THANK YOU!</a:t>
            </a:r>
          </a:p>
          <a:p>
            <a:pPr algn="ctr">
              <a:defRPr sz="1900" b="1">
                <a:solidFill>
                  <a:srgbClr val="DDD6FE"/>
                </a:solidFill>
                <a:latin typeface="Segoe UI"/>
              </a:defRPr>
            </a:pPr>
            <a:r>
              <a:t>Student Study Resource Portal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0" y="2468880"/>
            <a:ext cx="4327855" cy="43891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💡 QUESTIONS &amp; ANSWERS /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063240"/>
            <a:ext cx="85340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C4B5FD"/>
                </a:solidFill>
                <a:latin typeface="Segoe UI"/>
              </a:defRPr>
            </a:pPr>
            <a:r>
              <a:t>Presented By:</a:t>
            </a:r>
          </a:p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S. Keerthana   •   G. Kirthimaha   •   K. Keerthana   •   R. Madhu Shri   •   S. Madhumita</a:t>
            </a:r>
          </a:p>
          <a:p>
            <a:pPr algn="ctr">
              <a:defRPr sz="1000">
                <a:solidFill>
                  <a:srgbClr val="DDD6FE"/>
                </a:solidFill>
                <a:latin typeface="Segoe UI"/>
              </a:defRPr>
            </a:pPr>
            <a:r>
              <a:t>(B.Tech - Information Technology)</a:t>
            </a:r>
          </a:p>
          <a:p>
            <a:pPr algn="ctr">
              <a:defRPr sz="800">
                <a:solidFill>
                  <a:srgbClr val="7C3AED"/>
                </a:solidFill>
                <a:latin typeface="Segoe UI"/>
              </a:defRPr>
            </a:pPr>
            <a:r>
              <a:t>────────────────────────────────────────</a:t>
            </a:r>
          </a:p>
          <a:p>
            <a:pPr algn="ctr">
              <a:defRPr sz="1150" b="1">
                <a:solidFill>
                  <a:srgbClr val="FFEDD5"/>
                </a:solidFill>
                <a:latin typeface="Segoe UI"/>
              </a:defRPr>
            </a:pPr>
            <a:r>
              <a:t>Staff Guide: Dr. Sathish (HOD)      |      Student Guide: M. Sowbhagya Lakshmi (Student)</a:t>
            </a:r>
          </a:p>
          <a:p>
            <a:pPr algn="ctr">
              <a:defRPr sz="1100" b="1">
                <a:solidFill>
                  <a:srgbClr val="EA580C"/>
                </a:solidFill>
                <a:latin typeface="Segoe UI"/>
              </a:defRPr>
            </a:pPr>
            <a:r>
              <a:t>DEPARTMENT OF INFORMATION TECHNOLOGY</a:t>
            </a:r>
          </a:p>
          <a:p>
            <a:pPr algn="ctr">
              <a:defRPr sz="1050">
                <a:solidFill>
                  <a:srgbClr val="EEEAF9"/>
                </a:solidFill>
                <a:latin typeface="Segoe UI"/>
              </a:defRPr>
            </a:pPr>
            <a:r>
              <a:t>ER. PERUMAL MANIMEKALAI COLLEGE OF ENGINEERING, HOSUR – 635 117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