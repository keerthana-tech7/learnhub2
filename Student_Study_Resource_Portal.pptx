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erthana S" userId="89fd578081408965" providerId="LiveId" clId="{A0C548BA-F945-4B26-BE84-9BBAB3F62F76}"/>
    <pc:docChg chg="modSld sldOrd">
      <pc:chgData name="Keerthana S" userId="89fd578081408965" providerId="LiveId" clId="{A0C548BA-F945-4B26-BE84-9BBAB3F62F76}" dt="2026-10-24T04:28:52.083" v="1"/>
      <pc:docMkLst>
        <pc:docMk/>
      </pc:docMkLst>
      <pc:sldChg chg="ord">
        <pc:chgData name="Keerthana S" userId="89fd578081408965" providerId="LiveId" clId="{A0C548BA-F945-4B26-BE84-9BBAB3F62F76}" dt="2026-10-24T04:28:52.083" v="1"/>
        <pc:sldMkLst>
          <pc:docMk/>
          <pc:sldMk cId="0" sldId="265"/>
        </pc:sldMkLst>
      </pc:sldChg>
    </pc:docChg>
  </pc:docChgLst>
  <pc:docChgLst>
    <pc:chgData name="Keerthana S" userId="8c3a1f7bb0c4bd83" providerId="LiveId" clId="{7C1C1214-C16F-3A8C-9443-77758485C8F0}"/>
    <pc:docChg chg="modSld">
      <pc:chgData name="Keerthana S" userId="8c3a1f7bb0c4bd83" providerId="LiveId" clId="{7C1C1214-C16F-3A8C-9443-77758485C8F0}" dt="2026-10-24T03:13:12.914" v="18" actId="20577"/>
      <pc:docMkLst>
        <pc:docMk/>
      </pc:docMkLst>
      <pc:sldChg chg="modSp mod">
        <pc:chgData name="Keerthana S" userId="8c3a1f7bb0c4bd83" providerId="LiveId" clId="{7C1C1214-C16F-3A8C-9443-77758485C8F0}" dt="2026-10-24T03:13:12.914" v="18" actId="20577"/>
        <pc:sldMkLst>
          <pc:docMk/>
          <pc:sldMk cId="0" sldId="256"/>
        </pc:sldMkLst>
        <pc:spChg chg="mod">
          <ac:chgData name="Keerthana S" userId="8c3a1f7bb0c4bd83" providerId="LiveId" clId="{7C1C1214-C16F-3A8C-9443-77758485C8F0}" dt="2026-10-24T03:13:12.914" v="18" actId="20577"/>
          <ac:spMkLst>
            <pc:docMk/>
            <pc:sldMk cId="0" sldId="256"/>
            <ac:spMk id="1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mc_tec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"/>
            <a:ext cx="1691640" cy="13124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60320" y="365760"/>
            <a:ext cx="889985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2D124D"/>
                </a:solidFill>
                <a:latin typeface="Segoe UI"/>
              </a:defRPr>
            </a:pPr>
            <a:r>
              <a:t>ER. PERUMAL MANIMEKALAI COLLEGE OF ENGINEERING</a:t>
            </a:r>
          </a:p>
          <a:p>
            <a:pPr algn="r">
              <a:defRPr sz="1100" b="1">
                <a:solidFill>
                  <a:srgbClr val="475569"/>
                </a:solidFill>
                <a:latin typeface="Segoe UI"/>
              </a:defRPr>
            </a:pPr>
            <a:r>
              <a:t>AN AUTONOMOUS INSTITUTION • HOSUR – 635 117</a:t>
            </a:r>
          </a:p>
          <a:p>
            <a:pPr algn="r">
              <a:defRPr sz="1300" b="1">
                <a:solidFill>
                  <a:srgbClr val="EA580C"/>
                </a:solidFill>
                <a:latin typeface="Segoe UI"/>
              </a:defRPr>
            </a:pPr>
            <a:r>
              <a:t>DEPARTMENT OF INFORMATION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10728655" cy="3200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1572768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32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400" b="1">
                <a:solidFill>
                  <a:srgbClr val="2D124D"/>
                </a:solidFill>
                <a:latin typeface="Segoe UI"/>
              </a:defRPr>
            </a:pPr>
            <a:r>
              <a:t>Student Study Resource Portal</a:t>
            </a:r>
          </a:p>
          <a:p>
            <a:pPr algn="ctr">
              <a:defRPr sz="1350">
                <a:solidFill>
                  <a:srgbClr val="63279B"/>
                </a:solidFill>
                <a:latin typeface="Segoe UI"/>
              </a:defRPr>
            </a:pPr>
            <a:r>
              <a:t>A Modern Academic Learning Hub &amp; Study Material Sharing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691640"/>
            <a:ext cx="1920240" cy="32918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PROJECT 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30752"/>
            <a:ext cx="6400800" cy="2697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3584448"/>
            <a:ext cx="2011680" cy="32918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PRESENTED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4096512"/>
            <a:ext cx="1874519" cy="822960"/>
          </a:xfrm>
          <a:prstGeom prst="roundRect">
            <a:avLst/>
          </a:prstGeom>
          <a:solidFill>
            <a:srgbClr val="EEEAF9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S. Keerthana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B.Tech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9231" y="4096512"/>
            <a:ext cx="1874519" cy="822960"/>
          </a:xfrm>
          <a:prstGeom prst="roundRect">
            <a:avLst/>
          </a:prstGeom>
          <a:solidFill>
            <a:srgbClr val="EEEAF9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rPr dirty="0"/>
              <a:t>G. </a:t>
            </a:r>
            <a:r>
              <a:rPr lang="en-US" dirty="0"/>
              <a:t> </a:t>
            </a:r>
            <a:r>
              <a:rPr lang="en-US" dirty="0" err="1"/>
              <a:t>Kirithi</a:t>
            </a:r>
            <a:r>
              <a:rPr lang="en-US" dirty="0"/>
              <a:t> </a:t>
            </a:r>
            <a:r>
              <a:rPr lang="en-US"/>
              <a:t>Maha</a:t>
            </a:r>
            <a:endParaRPr dirty="0"/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rPr dirty="0" err="1"/>
              <a:t>B.Tech</a:t>
            </a:r>
            <a:r>
              <a:rPr dirty="0"/>
              <a:t>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8342" y="4096512"/>
            <a:ext cx="1874519" cy="822960"/>
          </a:xfrm>
          <a:prstGeom prst="roundRect">
            <a:avLst/>
          </a:prstGeom>
          <a:solidFill>
            <a:srgbClr val="EEEAF9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K. Keerthana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B.Tech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75105" y="5148072"/>
            <a:ext cx="1874519" cy="822960"/>
          </a:xfrm>
          <a:prstGeom prst="roundRect">
            <a:avLst/>
          </a:prstGeom>
          <a:solidFill>
            <a:srgbClr val="EEEAF9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R. Madhu Shri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B.Tech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14216" y="5148072"/>
            <a:ext cx="1874519" cy="822960"/>
          </a:xfrm>
          <a:prstGeom prst="roundRect">
            <a:avLst/>
          </a:prstGeom>
          <a:solidFill>
            <a:srgbClr val="EEEAF9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S. Madhumita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B.Tech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730752"/>
            <a:ext cx="4007815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defRPr sz="1600" b="1">
                <a:solidFill>
                  <a:srgbClr val="2D124D"/>
                </a:solidFill>
                <a:latin typeface="Segoe UI"/>
              </a:defRPr>
            </a:pPr>
            <a:r>
              <a:t>Dr. Sathish</a:t>
            </a:r>
          </a:p>
          <a:p>
            <a:pPr algn="l">
              <a:defRPr sz="1200" b="1">
                <a:solidFill>
                  <a:srgbClr val="EA580C"/>
                </a:solidFill>
                <a:latin typeface="Segoe UI"/>
              </a:defRPr>
            </a:pPr>
            <a:r>
              <a:t>Designation: HOD</a:t>
            </a:r>
          </a:p>
          <a:p>
            <a:pPr algn="l">
              <a:defRPr sz="1050">
                <a:solidFill>
                  <a:srgbClr val="475569"/>
                </a:solidFill>
                <a:latin typeface="Segoe UI"/>
              </a:defRPr>
            </a:pPr>
            <a:r>
              <a:t>Department of Information Technology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3584448"/>
            <a:ext cx="1645920" cy="32918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STAFF GUIDE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5193792"/>
            <a:ext cx="4007815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2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defRPr sz="1600" b="1">
                <a:solidFill>
                  <a:srgbClr val="2D124D"/>
                </a:solidFill>
                <a:latin typeface="Segoe UI"/>
              </a:defRPr>
            </a:pPr>
            <a:r>
              <a:t>M. Sowbhagya Lakshmi</a:t>
            </a:r>
          </a:p>
          <a:p>
            <a:pPr algn="l">
              <a:defRPr sz="1200" b="1">
                <a:solidFill>
                  <a:srgbClr val="63279B"/>
                </a:solidFill>
                <a:latin typeface="Segoe UI"/>
              </a:defRPr>
            </a:pPr>
            <a:r>
              <a:t>Designation: Student</a:t>
            </a:r>
          </a:p>
          <a:p>
            <a:pPr algn="l">
              <a:defRPr sz="1050">
                <a:solidFill>
                  <a:srgbClr val="475569"/>
                </a:solidFill>
                <a:latin typeface="Segoe UI"/>
              </a:defRPr>
            </a:pPr>
            <a:r>
              <a:t>Department of Information Technology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5047488"/>
            <a:ext cx="1737360" cy="329184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STUDENT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Introduction &amp; Project 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13898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64592" cy="1389888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828800"/>
            <a:ext cx="50292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🎓 Academic Challenge Solved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Resolves widespread fragmentation of lecture notes, lab files, and syllabus materials scattered across unorganized chat groups, cloud folders, and loose paper notes.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00984"/>
            <a:ext cx="5486400" cy="13898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1520" y="3300984"/>
            <a:ext cx="164592" cy="138988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50292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🚀 All-in-One Learning Portal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A high-performance Single-Page Application (SPA) providing exam-oriented notes, syntax-highlighted code snippets, and active study aids for engineering subjects.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10328"/>
            <a:ext cx="5486400" cy="13898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4910328"/>
            <a:ext cx="164592" cy="138988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5047488"/>
            <a:ext cx="50292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💻 Interactive &amp; Offline Ready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Empowers students with instant one-click code copy, client-side .txt note generation, and clean multipage print-to-PDF export directly within the browser.</a:t>
            </a:r>
          </a:p>
        </p:txBody>
      </p:sp>
      <p:pic>
        <p:nvPicPr>
          <p:cNvPr id="15" name="Picture 14" descr="learning_concept_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7947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92240" y="5623560"/>
            <a:ext cx="4967935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ctr">
              <a:defRPr sz="1000" b="1">
                <a:solidFill>
                  <a:srgbClr val="EA580C"/>
                </a:solidFill>
                <a:latin typeface="Segoe UI"/>
              </a:defRPr>
            </a:pPr>
            <a:r>
              <a:t>STUDENT-CENTRIC DIGITAL ECOSYSTEM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Verified syllabus content across C, Web Dev, Cloud, Java, and Python.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CURRENT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Problem Statement &amp; Student Bottlenecks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60120" y="1920240"/>
            <a:ext cx="594360" cy="594360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828800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Scattered Learning Materials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Critical syllabus notes and lab code are dispersed across chat apps (WhatsApp, Telegram), individual Google drives, and handwritten sheets, causing major preparation delays.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337560"/>
            <a:ext cx="4754880" cy="3474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⚠️  Bottleneck: 45+ minutes lost hunting across chats per revision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691640"/>
            <a:ext cx="521208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73952" y="1920240"/>
            <a:ext cx="594360" cy="5943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1828800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Inconsistent &amp; Unverified Quality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Informally circulated notes frequently contain syntactical bugs, incomplete derivations, and outdated concepts without faculty or peer verification mechanisms.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3337560"/>
            <a:ext cx="4754880" cy="3474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950" b="1">
                <a:solidFill>
                  <a:srgbClr val="EA580C"/>
                </a:solidFill>
                <a:latin typeface="Segoe UI"/>
              </a:defRPr>
            </a:pPr>
            <a:r>
              <a:t>❌  Risk: Broken code snippets and exam point deductions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60120" y="4297680"/>
            <a:ext cx="59436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06240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Forwarding Fatigue &amp; File Loss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Students have no structured way to archive or retrieve peer-contributed study files, leading to duplicated requests, broken download links, and lost documents.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5715000"/>
            <a:ext cx="4754880" cy="3474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950" b="1">
                <a:solidFill>
                  <a:srgbClr val="7C3AED"/>
                </a:solidFill>
                <a:latin typeface="Segoe UI"/>
              </a:defRPr>
            </a:pPr>
            <a:r>
              <a:t>📁  Friction: File links expire and lab manuals vanish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069080"/>
            <a:ext cx="521208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73952" y="4297680"/>
            <a:ext cx="594360" cy="594360"/>
          </a:xfrm>
          <a:prstGeom prst="roundRect">
            <a:avLst/>
          </a:prstGeom>
          <a:solidFill>
            <a:srgbClr val="2D1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5472" y="4206240"/>
            <a:ext cx="4069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Poor Mobile &amp; Search Experience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Large scanned PDFs are cumbersome to read on smartphones and lack instant keyword search, forcing students to manually scan hundreds of pages.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5715000"/>
            <a:ext cx="4754880" cy="3474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950" b="1">
                <a:solidFill>
                  <a:srgbClr val="2D124D"/>
                </a:solidFill>
                <a:latin typeface="Segoe UI"/>
              </a:defRPr>
            </a:pPr>
            <a:r>
              <a:t>📱  Barrier: Hard to study during transit or fast revisions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CORE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Project Objectives &amp; Design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🎯  Centralize Study Resources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Create a unified, dependable web platform hosting verified notes across core Computer Science and Engineering disciplines.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364992"/>
            <a:ext cx="3154680" cy="329184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63279B"/>
                </a:solidFill>
                <a:latin typeface="Segoe UI"/>
              </a:defRPr>
            </a:pPr>
            <a:r>
              <a:t>★  Metric: Single source of truth for 5 core disciplines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69164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⚡  Deliver Fast Concept Discovery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Implement real-time keyword search and AI topic chips for instant retrieval of technical syllabus sections.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17136" y="3364992"/>
            <a:ext cx="3154680" cy="329184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63279B"/>
                </a:solidFill>
                <a:latin typeface="Segoe UI"/>
              </a:defRPr>
            </a:pPr>
            <a:r>
              <a:t>★  Metric: Sub-millisecond instant client matching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2" y="169164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💻  Facilitate Active Learning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Provide pre-formatted runnable code snippets with one-click copy to encourage practical hands-on programming.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65592" y="3364992"/>
            <a:ext cx="3154680" cy="329184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63279B"/>
                </a:solidFill>
                <a:latin typeface="Segoe UI"/>
              </a:defRPr>
            </a:pPr>
            <a:r>
              <a:t>★  Metric: 1-click clipboard integration with visual feedback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📤  Enable Peer Contribution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Empower students to upload notes and lab solutions with automated server processing and administrative moderation.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742432"/>
            <a:ext cx="3154680" cy="329184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63279B"/>
                </a:solidFill>
                <a:latin typeface="Segoe UI"/>
              </a:defRPr>
            </a:pPr>
            <a:r>
              <a:t>★  Metric: Secure multer file handling up to 25 MB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406908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📄  Support Offline Revisions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Integrate client-side text file generation and browser print-to-PDF export for frictionless exam hall study.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5742432"/>
            <a:ext cx="3154680" cy="329184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63279B"/>
                </a:solidFill>
                <a:latin typeface="Segoe UI"/>
              </a:defRPr>
            </a:pPr>
            <a:r>
              <a:t>★  Metric: HTML5 Blob export &amp; @media print support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406908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D124D"/>
                </a:solidFill>
                <a:latin typeface="Segoe UI"/>
              </a:defRPr>
            </a:pPr>
            <a:r>
              <a:t>🔐  Ensure Account Security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Implement robust user authentication with bcryptjs salted password hashing and server-side session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5742432"/>
            <a:ext cx="3154680" cy="329184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63279B"/>
                </a:solidFill>
                <a:latin typeface="Segoe UI"/>
              </a:defRPr>
            </a:pPr>
            <a:r>
              <a:t>★  Metric: Encrypted sessions &amp; SQL injection protection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SYSTEM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Comparative Analysis: Existing vs. Proposed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7277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D12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❌ Existing System (Manual / Chat-Based)</a:t>
                      </a:r>
                    </a:p>
                  </a:txBody>
                  <a:tcPr>
                    <a:solidFill>
                      <a:srgbClr val="2D12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✅ Proposed Portal (StudyPortal Pro)</a:t>
                      </a:r>
                    </a:p>
                  </a:txBody>
                  <a:tcPr>
                    <a:solidFill>
                      <a:srgbClr val="632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D124D"/>
                          </a:solidFill>
                          <a:latin typeface="Segoe UI"/>
                        </a:defRPr>
                      </a:pPr>
                      <a:r>
                        <a:t>Resource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91B1B"/>
                          </a:solidFill>
                          <a:latin typeface="Segoe UI"/>
                        </a:defRPr>
                      </a:pPr>
                      <a:r>
                        <a:t>Fragmented across individual WhatsApp groups, personal Google Drives, and paper folders.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Unified central repository organized cleanly by academic subjects and tags.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D124D"/>
                          </a:solidFill>
                          <a:latin typeface="Segoe UI"/>
                        </a:defRPr>
                      </a:pPr>
                      <a:r>
                        <a:t>Search &amp; Retrieval</a:t>
                      </a:r>
                    </a:p>
                  </a:txBody>
                  <a:tcPr>
                    <a:solidFill>
                      <a:srgbClr val="EEE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91B1B"/>
                          </a:solidFill>
                          <a:latin typeface="Segoe UI"/>
                        </a:defRPr>
                      </a:pPr>
                      <a:r>
                        <a:t>Slow, manual browsing through chat histories and disorganized folder directories.</a:t>
                      </a:r>
                    </a:p>
                  </a:txBody>
                  <a:tcPr>
                    <a:solidFill>
                      <a:srgbClr val="EEE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Instant real-time search with interactive subject filter chips and AI study chips.</a:t>
                      </a:r>
                    </a:p>
                  </a:txBody>
                  <a:tcPr>
                    <a:solidFill>
                      <a:srgbClr val="EEE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D124D"/>
                          </a:solidFill>
                          <a:latin typeface="Segoe UI"/>
                        </a:defRPr>
                      </a:pPr>
                      <a:r>
                        <a:t>Code Snippets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91B1B"/>
                          </a:solidFill>
                          <a:latin typeface="Segoe UI"/>
                        </a:defRPr>
                      </a:pPr>
                      <a:r>
                        <a:t>Shared as raw unformatted text or blurry screenshots with syntax errors.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Syntax-formatted code blocks with animated one-click copy to clipboard.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D124D"/>
                          </a:solidFill>
                          <a:latin typeface="Segoe UI"/>
                        </a:defRPr>
                      </a:pPr>
                      <a:r>
                        <a:t>Offline Study</a:t>
                      </a:r>
                    </a:p>
                  </a:txBody>
                  <a:tcPr>
                    <a:solidFill>
                      <a:srgbClr val="EEE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91B1B"/>
                          </a:solidFill>
                          <a:latin typeface="Segoe UI"/>
                        </a:defRPr>
                      </a:pPr>
                      <a:r>
                        <a:t>Requires downloading heavy, bulky PDFs that are difficult to view on smartphones.</a:t>
                      </a:r>
                    </a:p>
                  </a:txBody>
                  <a:tcPr>
                    <a:solidFill>
                      <a:srgbClr val="EEE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Direct .txt notes download via HTML5 Blob and clean browser print-to-PDF.</a:t>
                      </a:r>
                    </a:p>
                  </a:txBody>
                  <a:tcPr>
                    <a:solidFill>
                      <a:srgbClr val="EEE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D124D"/>
                          </a:solidFill>
                          <a:latin typeface="Segoe UI"/>
                        </a:defRPr>
                      </a:pPr>
                      <a:r>
                        <a:t>Access &amp; Moderation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991B1B"/>
                          </a:solidFill>
                          <a:latin typeface="Segoe UI"/>
                        </a:defRPr>
                      </a:pPr>
                      <a:r>
                        <a:t>No verification mechanism; spam and incorrect materials circulate freely.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5F46"/>
                          </a:solidFill>
                          <a:latin typeface="Segoe UI"/>
                        </a:defRPr>
                      </a:pPr>
                      <a:r>
                        <a:t>Secure student authentication with bcryptjs and admin moderation console.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PORTAL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Six Core Functional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3154680" cy="384048"/>
          </a:xfrm>
          <a:prstGeom prst="roundRect">
            <a:avLst/>
          </a:prstGeom>
          <a:solidFill>
            <a:srgbClr val="EEE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🏠  Home &amp;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Academic year banner, feature highlight pills, quick CTA navigation, and live statistics counter.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Academic Year 2026 Hub Banner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Verified notes &amp; subject counters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Direct CTA shortcut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9164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17136" y="1828800"/>
            <a:ext cx="3154680" cy="384048"/>
          </a:xfrm>
          <a:prstGeom prst="roundRect">
            <a:avLst/>
          </a:prstGeom>
          <a:solidFill>
            <a:srgbClr val="EEE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📚  Curated 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24028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Curriculum-aligned library with real-time keyword search, subject chips, and reading time badges.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301752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Real-time title &amp; topic filter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C, Web, Cloud, Java, Python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Estimated reading time pills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165592" y="1828800"/>
            <a:ext cx="3154680" cy="384048"/>
          </a:xfrm>
          <a:prstGeom prst="roundRect">
            <a:avLst/>
          </a:prstGeom>
          <a:solidFill>
            <a:srgbClr val="EEE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🤖  AI Study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224028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Natural-language topic search engine matching keywords across syllabus titles and summaries.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301752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Instant conceptual keyword match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Pre-configured topic study chips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Sub-millisecond client query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6908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68680" y="4206240"/>
            <a:ext cx="3154680" cy="384048"/>
          </a:xfrm>
          <a:prstGeom prst="roundRect">
            <a:avLst/>
          </a:prstGeom>
          <a:solidFill>
            <a:srgbClr val="EEE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📤  Contribute / Upload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1772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Authenticated file upload system utilizing multer diskStorage for community notes &amp; lab PDFs.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Express multer upload engine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Files up to 25 MB supported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Dynamic library card addition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9976" y="406908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17136" y="4206240"/>
            <a:ext cx="3154680" cy="384048"/>
          </a:xfrm>
          <a:prstGeom prst="roundRect">
            <a:avLst/>
          </a:prstGeom>
          <a:solidFill>
            <a:srgbClr val="EEE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🛠️  Admin Console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61772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Restricted dashboard for platform moderation, allowing administrators to review contributions.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539496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Community submission queue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Approve &amp; Publish actions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Dynamic card state updating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4069080"/>
            <a:ext cx="342900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165592" y="4206240"/>
            <a:ext cx="3154680" cy="384048"/>
          </a:xfrm>
          <a:prstGeom prst="roundRect">
            <a:avLst/>
          </a:prstGeom>
          <a:solidFill>
            <a:srgbClr val="EEE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🔐  Auth &amp; Student Profile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4617720"/>
            <a:ext cx="3154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Secure registration and login workflow utilizing bcryptjs salted hashing and session cookies.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539496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bcryptjs salted password hashing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express-session cookie storage</a:t>
            </a:r>
          </a:p>
          <a:p>
            <a:pPr>
              <a:defRPr sz="880">
                <a:solidFill>
                  <a:srgbClr val="63279B"/>
                </a:solidFill>
                <a:latin typeface="Segoe UI"/>
              </a:defRPr>
            </a:pPr>
            <a:r>
              <a:t>• Dynamic nav greeting &amp; sign 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Technology Stack &amp; Architectural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2900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3154680" cy="502920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Frontend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468880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HTML5 Semantic Markup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Clean document layout (&lt;header&gt;, &lt;nav&gt;, &lt;section&gt;, modals)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364992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Vanilla CSS3 Tokens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Custom CSS variables, glassmorphic styling, and @media 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261104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Vanilla JavaScript ES6+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Client-side SPA controller, event listeners, and fetch API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57216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Typography System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Google Fonts (Outfit, Plus Jakarta Sans, JetBrains Mono)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17136" y="1828800"/>
            <a:ext cx="315468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Backend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7136" y="2468880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Node.js Runtime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High-performance, event-driven asynchronous JavaScript runtime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3364992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Express.js v5.1.0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Fast RESTful API endpoints, routing, and static asset serving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7136" y="4261104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express-session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Encrypted cookie-based student session lifecycle management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17136" y="5157216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multer Engine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Multipart form-data processor with 25MB disk limits in public/uploads/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2" y="1691640"/>
            <a:ext cx="342900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165592" y="1828800"/>
            <a:ext cx="315468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Database &amp; Security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65592" y="2468880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SQLite (better-sqlite3)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Embedded zero-config database storing credentials in studyportal.db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65592" y="3364992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PostgreSQL / Neon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Cloud-native PostgreSQL compatibility for production scalability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4261104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bcryptjs v2.4.3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Adaptive salted password hashing preventing plaintext credential leaks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5592" y="5157216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●  Prepared SQL Queries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Pre-compiled parameterized statements protecting against SQL injection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Three-Tier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2926080" cy="1005840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Tier 1: Presentation Layer (Browser Client)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40" y="18288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HTML5 &amp; CSS3 SPA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Responsive views with glassmorphic cards and modal dialogs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9672" y="18288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app.js Controller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DOM manipulation, client state, and real-time search 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61704" y="18288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PDF &amp; Text Exporter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HTML5 Blob text assembler &amp; browser print-to-PDF engine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3017520"/>
            <a:ext cx="365760" cy="228600"/>
          </a:xfrm>
          <a:prstGeom prst="downArrow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68680" y="3429000"/>
            <a:ext cx="2926080" cy="10058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Tier 2: Application Layer (Node.js &amp; Express.js)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40" y="34290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REST API Endpoints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/api/register, /api/login, /api/upload, /api/session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4290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Security &amp; Hashing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bcryptjs salted password hashing &amp; session management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1704" y="34290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File Upload Engine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multer diskStorage processor saving to public/uploads/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43600" y="4617720"/>
            <a:ext cx="365760" cy="228600"/>
          </a:xfrm>
          <a:prstGeom prst="downArrow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31520" y="489204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68680" y="5029200"/>
            <a:ext cx="292608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Tier 3: Data &amp; Storage Layer (Database &amp; Files)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40" y="50292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SQLite / PostgreSQL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Relational persistence storing user credentials &amp; roles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9672" y="50292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Local Disk Storage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Timestamped, sanitized uploaded study files and PDFs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1704" y="5029200"/>
            <a:ext cx="2377440" cy="10058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Prepared SQL Queries</a:t>
            </a:r>
          </a:p>
          <a:p>
            <a:pPr>
              <a:defRPr sz="900">
                <a:solidFill>
                  <a:srgbClr val="475569"/>
                </a:solidFill>
                <a:latin typeface="Segoe UI"/>
              </a:defRPr>
            </a:pPr>
            <a:r>
              <a:t>Pre-compiled parameterized statements protecting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Working Process &amp; Operational User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4688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1005840" cy="320040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🔐 Authentication &amp; Session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Student enters credentials on Register/Login page. Backend hashes password via bcryptjs, verifies uniqueness in SQLite, and sets encrypted session cookie.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6344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3279B"/>
                </a:solidFill>
                <a:latin typeface="Segoe UI"/>
              </a:defRPr>
            </a:pPr>
            <a:r>
              <a:t>• Email validation check</a:t>
            </a:r>
          </a:p>
          <a:p>
            <a:pPr>
              <a:defRPr sz="900">
                <a:solidFill>
                  <a:srgbClr val="63279B"/>
                </a:solidFill>
                <a:latin typeface="Segoe UI"/>
              </a:defRPr>
            </a:pPr>
            <a:r>
              <a:t>• Salted bcryptjs hashing</a:t>
            </a:r>
          </a:p>
          <a:p>
            <a:pPr>
              <a:defRPr sz="900">
                <a:solidFill>
                  <a:srgbClr val="63279B"/>
                </a:solidFill>
                <a:latin typeface="Segoe UI"/>
              </a:defRPr>
            </a:pPr>
            <a:r>
              <a:t>• express-session cookie 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96128"/>
            <a:ext cx="2194560" cy="38404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63279B"/>
                </a:solidFill>
                <a:latin typeface="Segoe UI"/>
              </a:defRPr>
            </a:pPr>
            <a:r>
              <a:t>⚙️  POST /api/login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288" y="1691640"/>
            <a:ext cx="24688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84448" y="1828800"/>
            <a:ext cx="100584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19456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🔍 Subject Filtering &amp; AI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10896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Student navigates to Resources or AI Search. Real-time event listeners filter syllabus notes by subject chips or query keywords across titles and summaries.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466344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EA580C"/>
                </a:solidFill>
                <a:latin typeface="Segoe UI"/>
              </a:defRPr>
            </a:pPr>
            <a:r>
              <a:t>• Real-time input listener</a:t>
            </a:r>
          </a:p>
          <a:p>
            <a:pPr>
              <a:defRPr sz="900">
                <a:solidFill>
                  <a:srgbClr val="EA580C"/>
                </a:solidFill>
                <a:latin typeface="Segoe UI"/>
              </a:defRPr>
            </a:pPr>
            <a:r>
              <a:t>• Subject chip toggle</a:t>
            </a:r>
          </a:p>
          <a:p>
            <a:pPr>
              <a:defRPr sz="900">
                <a:solidFill>
                  <a:srgbClr val="EA580C"/>
                </a:solidFill>
                <a:latin typeface="Segoe UI"/>
              </a:defRPr>
            </a:pPr>
            <a:r>
              <a:t>• Fast multi-field query match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84448" y="5596128"/>
            <a:ext cx="2194560" cy="38404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EA580C"/>
                </a:solidFill>
                <a:latin typeface="Segoe UI"/>
              </a:defRPr>
            </a:pPr>
            <a:r>
              <a:t>⚙️  Instant Client Matching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1691640"/>
            <a:ext cx="24688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00216" y="1828800"/>
            <a:ext cx="1005840" cy="3200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19456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📖 Interactive Study &amp; Code Copy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10896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Clicking 'View Resource' opens modal with structured syllabus breakdowns, comparison tables, and code snippets. One-click copy copies code to clipboard.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466344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C3AED"/>
                </a:solidFill>
                <a:latin typeface="Segoe UI"/>
              </a:defRPr>
            </a:pPr>
            <a:r>
              <a:t>• Full syllabus breakdown</a:t>
            </a:r>
          </a:p>
          <a:p>
            <a:pPr>
              <a:defRPr sz="900">
                <a:solidFill>
                  <a:srgbClr val="7C3AED"/>
                </a:solidFill>
                <a:latin typeface="Segoe UI"/>
              </a:defRPr>
            </a:pPr>
            <a:r>
              <a:t>• Syntax-styled code box</a:t>
            </a:r>
          </a:p>
          <a:p>
            <a:pPr>
              <a:defRPr sz="900">
                <a:solidFill>
                  <a:srgbClr val="7C3AED"/>
                </a:solidFill>
                <a:latin typeface="Segoe UI"/>
              </a:defRPr>
            </a:pPr>
            <a:r>
              <a:t>• One-click clipboard copy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5596128"/>
            <a:ext cx="2194560" cy="38404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7C3AED"/>
                </a:solidFill>
                <a:latin typeface="Segoe UI"/>
              </a:defRPr>
            </a:pPr>
            <a:r>
              <a:t>⚙️  Modal Reader Component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78824" y="1691640"/>
            <a:ext cx="24688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015984" y="1828800"/>
            <a:ext cx="1005840" cy="320040"/>
          </a:xfrm>
          <a:prstGeom prst="roundRect">
            <a:avLst/>
          </a:prstGeom>
          <a:solidFill>
            <a:srgbClr val="2D1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19456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📥 Offline Export &amp; Contribution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310896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Student can download .txt notes via HTML5 Blob or print clean PDFs. Authenticated students upload their own study files via multer for community access.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466344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2D124D"/>
                </a:solidFill>
                <a:latin typeface="Segoe UI"/>
              </a:defRPr>
            </a:pPr>
            <a:r>
              <a:t>• Blob .txt file export</a:t>
            </a:r>
          </a:p>
          <a:p>
            <a:pPr>
              <a:defRPr sz="900">
                <a:solidFill>
                  <a:srgbClr val="2D124D"/>
                </a:solidFill>
                <a:latin typeface="Segoe UI"/>
              </a:defRPr>
            </a:pPr>
            <a:r>
              <a:t>• Clean @media print PDF</a:t>
            </a:r>
          </a:p>
          <a:p>
            <a:pPr>
              <a:defRPr sz="900">
                <a:solidFill>
                  <a:srgbClr val="2D124D"/>
                </a:solidFill>
                <a:latin typeface="Segoe UI"/>
              </a:defRPr>
            </a:pPr>
            <a:r>
              <a:t>• Multer upload with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15984" y="5596128"/>
            <a:ext cx="2194560" cy="38404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2D124D"/>
                </a:solidFill>
                <a:latin typeface="Segoe UI"/>
              </a:defRPr>
            </a:pPr>
            <a:r>
              <a:t>⚙️  POST /api/upload &amp; Print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PORTAL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User Interface &amp; Experience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ortal_ui_mock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658368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691640"/>
            <a:ext cx="3916375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543800" y="1691640"/>
            <a:ext cx="164592" cy="1353312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0" y="1828800"/>
            <a:ext cx="3459175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🎨 Dark Glassmorphic Aesthetic</a:t>
            </a:r>
          </a:p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Curated navy-slate backdrop (#0a0f1d) combined with indigo-violet gradients and subtle glassmorphic blur borders for zero eye strain during night study.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3255264"/>
            <a:ext cx="3916375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43800" y="3255264"/>
            <a:ext cx="164592" cy="135331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3392424"/>
            <a:ext cx="3459175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124D"/>
                </a:solidFill>
                <a:latin typeface="Segoe UI"/>
              </a:defRPr>
            </a:pPr>
            <a:r>
              <a:t>⚡ Interactive AI Search Chips</a:t>
            </a:r>
          </a:p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Pre-configured conceptual query chips allow students to quickly resolve complex topics (e.g. 'C pointers', 'Flexbox vs Grid', 'Java OOP', 'AWS EC2').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818888"/>
            <a:ext cx="3916375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43800" y="4818888"/>
            <a:ext cx="164592" cy="135331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0" y="4956048"/>
            <a:ext cx="3459175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124D"/>
                </a:solidFill>
                <a:latin typeface="Segoe UI"/>
              </a:defRPr>
            </a:pPr>
            <a:r>
              <a:t>📖 Full-Screen Notes Modal</a:t>
            </a:r>
          </a:p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Equipped with reading time pills, syntax-highlighted code containers, one-click copy feedback, and print-to-PDF engine integration.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SYLLABUS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Curriculum Resource Management &amp; Subject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2194560" cy="548640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C Programming</a:t>
            </a:r>
          </a:p>
          <a:p>
            <a:pPr algn="ctr">
              <a:defRPr sz="850">
                <a:solidFill>
                  <a:srgbClr val="EEEAF9"/>
                </a:solidFill>
                <a:latin typeface="Segoe UI"/>
              </a:defRPr>
            </a:pPr>
            <a:r>
              <a:t>Systems &amp;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2194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Compilation Pipeline (GCC)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Data Types &amp; Format Specifiers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Pointers &amp; Address Operators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Dynamic Memory (malloc, free)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Runnable Swap Code Snippet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16916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84448" y="1828800"/>
            <a:ext cx="2194560" cy="5486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Web Development</a:t>
            </a:r>
          </a:p>
          <a:p>
            <a:pPr algn="ctr">
              <a:defRPr sz="850">
                <a:solidFill>
                  <a:srgbClr val="EEEAF9"/>
                </a:solidFill>
                <a:latin typeface="Segoe UI"/>
              </a:defRPr>
            </a:pPr>
            <a:r>
              <a:t>Frontend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468880"/>
            <a:ext cx="2194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Semantic HTML5 Architecture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CSS Box Model Mechanics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1D Flexbox vs 2D CSS Grid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Responsive Mobile Design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Asynchronous JavaScript (Fetch)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16916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00216" y="1828800"/>
            <a:ext cx="219456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Cloud Computing</a:t>
            </a:r>
          </a:p>
          <a:p>
            <a:pPr algn="ctr">
              <a:defRPr sz="850">
                <a:solidFill>
                  <a:srgbClr val="EEEAF9"/>
                </a:solidFill>
                <a:latin typeface="Segoe UI"/>
              </a:defRPr>
            </a:pPr>
            <a:r>
              <a:t>Infrastructure &amp; AWS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2468880"/>
            <a:ext cx="2194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Cloud Models (IaaS, PaaS, SaaS)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AWS Global Regions &amp; AZs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EC2, S3, RDS &amp; Lambda Services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IAM Roles &amp; JSON Policies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Cloud Security Best Practices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78824" y="16916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15984" y="1828800"/>
            <a:ext cx="2194560" cy="548640"/>
          </a:xfrm>
          <a:prstGeom prst="roundRect">
            <a:avLst/>
          </a:prstGeom>
          <a:solidFill>
            <a:srgbClr val="2D1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Java &amp; Python</a:t>
            </a:r>
          </a:p>
          <a:p>
            <a:pPr algn="ctr">
              <a:defRPr sz="850">
                <a:solidFill>
                  <a:srgbClr val="EEEAF9"/>
                </a:solidFill>
                <a:latin typeface="Segoe UI"/>
              </a:defRPr>
            </a:pPr>
            <a:r>
              <a:t>OOP &amp; Data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2468880"/>
            <a:ext cx="2194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4 Pillars of Object-Oriented Prog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Java Collections (List, Set, Map)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Exception Handling (try-catch)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Python List Comprehensions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✓  Mutable vs Immutable Objects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10728655" cy="1051560"/>
          </a:xfrm>
          <a:prstGeom prst="roundRect">
            <a:avLst/>
          </a:prstGeom>
          <a:solidFill>
            <a:srgbClr val="EEEAF9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ctr">
              <a:defRPr sz="1200" b="1">
                <a:solidFill>
                  <a:srgbClr val="2D124D"/>
                </a:solidFill>
                <a:latin typeface="Segoe UI"/>
              </a:defRPr>
            </a:pPr>
            <a:r>
              <a:t>⚡ Built-in Academic Export Engine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Students can download clean .txt study summaries via HTML5 Blob API, copy code directly to IDEs, or trigger browser window.print() with custom @media print rules to produce multipage PDF revision guides.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STAKEHOLDER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Key Advantages &amp; Academic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2900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3154680" cy="502920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🎓  For Students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468880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Instant Knowledge Access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Single-Page Application speed with zero page reloading delays.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364992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Curriculum Alignment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Notes directly tailored to semester examination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261104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Active Code Practice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One-click copyable snippets ready for immediate IDE testing.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57216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Offline Revision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Downloadable text files and print-to-PDF for exam hall preparation.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17136" y="1828800"/>
            <a:ext cx="315468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👨‍🏫  For Faculty &amp; Guides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7136" y="2468880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Eliminate Redundancy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No more manually re-emailing lost study files to multiple student batches.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3364992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Quality Assurance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Ensure the entire class studies from verified and updated references.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7136" y="4261104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Moderation Control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Administrative dashboard to inspect and approve student contributions.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17136" y="5157216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Centralized Distribution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A single definitive source for lecture summaries and lab exercises.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2" y="1691640"/>
            <a:ext cx="342900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165592" y="1828800"/>
            <a:ext cx="315468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🏛️  For the Institution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65592" y="2468880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Zero Cloud DB Costs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Lightweight SQLite database minimizes recurring infrastructure overhead.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65592" y="3364992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Academic Repository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Builds a growing institutional knowledge base year after year.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4261104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Modern Web Standards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Pure HTML5, CSS3, and ES6+ make the codebase simple to maintain.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5592" y="5157216"/>
            <a:ext cx="3154680" cy="80467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>
              <a:defRPr sz="1050" b="1">
                <a:solidFill>
                  <a:srgbClr val="2D124D"/>
                </a:solidFill>
                <a:latin typeface="Segoe UI"/>
              </a:defRPr>
            </a:pPr>
            <a:r>
              <a:t>★  Extensible Architecture</a:t>
            </a:r>
          </a:p>
          <a:p>
            <a:pPr>
              <a:defRPr sz="880">
                <a:solidFill>
                  <a:srgbClr val="475569"/>
                </a:solidFill>
                <a:latin typeface="Segoe UI"/>
              </a:defRPr>
            </a:pPr>
            <a:r>
              <a:t>Ready for future AI enhancements, quizzes, and university integration.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Future Enhancements &amp; Technological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97680" y="1874520"/>
            <a:ext cx="1417320" cy="27432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632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63279B"/>
                </a:solidFill>
                <a:latin typeface="Segoe UI"/>
              </a:defRPr>
            </a:pPr>
            <a:r>
              <a:t>PLANNED: 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562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124D"/>
                </a:solidFill>
                <a:latin typeface="Segoe UI"/>
              </a:defRPr>
            </a:pPr>
            <a:r>
              <a:t>🤖  Conversational LLM AI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Connect the AI Search module to external Large Language Model APIs (e.g., Google Gemini API or OpenAI) to support multi-turn conversational tutoring and automated exam question generation.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401568"/>
            <a:ext cx="4754880" cy="3200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880" b="1">
                <a:solidFill>
                  <a:srgbClr val="63279B"/>
                </a:solidFill>
                <a:latin typeface="Segoe UI"/>
              </a:defRPr>
            </a:pPr>
            <a:r>
              <a:t>✨  • Multi-turn doubt solving  • Auto-generated study quizzes  • Contextual syllabus hints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691640"/>
            <a:ext cx="521208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11512" y="1874520"/>
            <a:ext cx="1417320" cy="27432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EA580C"/>
                </a:solidFill>
                <a:latin typeface="Segoe UI"/>
              </a:defRPr>
            </a:pPr>
            <a:r>
              <a:t>PLANNED: 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562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124D"/>
                </a:solidFill>
                <a:latin typeface="Segoe UI"/>
              </a:defRPr>
            </a:pPr>
            <a:r>
              <a:t>☁️  Scalable Cloud Storage (AWS S3)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37744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Transition local server disk uploads (multer diskStorage) to cloud bucket storage (Amazon S3 / Cloudinary) to enable infinite study file uploads and seamless global CDN distribution.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3952" y="3401568"/>
            <a:ext cx="4754880" cy="3200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880" b="1">
                <a:solidFill>
                  <a:srgbClr val="EA580C"/>
                </a:solidFill>
                <a:latin typeface="Segoe UI"/>
              </a:defRPr>
            </a:pPr>
            <a:r>
              <a:t>✨  • Amazon S3 bucket integration  • CloudFront CDN caching  • Instant PDF thumbnail preview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297680" y="4251960"/>
            <a:ext cx="1417320" cy="27432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7C3AED"/>
                </a:solidFill>
                <a:latin typeface="Segoe UI"/>
              </a:defRPr>
            </a:pPr>
            <a:r>
              <a:t>PLANNED: 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3367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124D"/>
                </a:solidFill>
                <a:latin typeface="Segoe UI"/>
              </a:defRPr>
            </a:pPr>
            <a:r>
              <a:t>⭐  Peer Ratings &amp; Discussion Threads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5488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Enable community voting, usefulness ratings, and contextual discussion comments on notes so students can ask doubts and review quality collaboratively.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5779008"/>
            <a:ext cx="4754880" cy="3200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880" b="1">
                <a:solidFill>
                  <a:srgbClr val="7C3AED"/>
                </a:solidFill>
                <a:latin typeface="Segoe UI"/>
              </a:defRPr>
            </a:pPr>
            <a:r>
              <a:t>✨  • 5-star student review system  • Threaded question comments  • Community-curated top notes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4069080"/>
            <a:ext cx="521208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811512" y="4251960"/>
            <a:ext cx="1417320" cy="27432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2D1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D124D"/>
                </a:solidFill>
                <a:latin typeface="Segoe UI"/>
              </a:defRPr>
            </a:pPr>
            <a:r>
              <a:t>PLANNED: 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23367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124D"/>
                </a:solidFill>
                <a:latin typeface="Segoe UI"/>
              </a:defRPr>
            </a:pPr>
            <a:r>
              <a:t>🌓  Adaptive Theme Switcher &amp; Accessibility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75488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475569"/>
                </a:solidFill>
                <a:latin typeface="Segoe UI"/>
              </a:defRPr>
            </a:pPr>
            <a:r>
              <a:t>Implement dynamic theme switching between the current signature dark mode and a crisp daylight mode, along with WCAG screen reader accessibility enhancements.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3952" y="5779008"/>
            <a:ext cx="4754880" cy="320040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880" b="1">
                <a:solidFill>
                  <a:srgbClr val="2D124D"/>
                </a:solidFill>
                <a:latin typeface="Segoe UI"/>
              </a:defRPr>
            </a:pPr>
            <a:r>
              <a:t>✨  • Dark / Light theme toggle  • WCAG 2.1 AAA high-contrast  • Full keyboard navigation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defRPr sz="950" b="1">
                <a:solidFill>
                  <a:srgbClr val="63279B"/>
                </a:solidFill>
                <a:latin typeface="Segoe UI"/>
              </a:defRPr>
            </a:pPr>
            <a:r>
              <a:t>● 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124D"/>
                </a:solidFill>
                <a:latin typeface="Segoe UI"/>
              </a:defRPr>
            </a:pPr>
            <a:r>
              <a:t>Conclusion &amp; Project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44752"/>
            <a:ext cx="10728655" cy="18288"/>
          </a:xfrm>
          <a:prstGeom prst="rect">
            <a:avLst/>
          </a:prstGeom>
          <a:solidFill>
            <a:srgbClr val="E2D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828800"/>
            <a:ext cx="182880" cy="1078992"/>
          </a:xfrm>
          <a:prstGeom prst="roundRect">
            <a:avLst/>
          </a:prstGeom>
          <a:solidFill>
            <a:srgbClr val="632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34440" y="1801368"/>
            <a:ext cx="9905695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🏆 Successful Problem Resolution</a:t>
            </a:r>
          </a:p>
          <a:p>
            <a:pPr>
              <a:defRPr sz="1019">
                <a:solidFill>
                  <a:srgbClr val="475569"/>
                </a:solidFill>
                <a:latin typeface="Segoe UI"/>
              </a:defRPr>
            </a:pPr>
            <a:r>
              <a:t>The Student Study Resource Portal successfully resolves the chronic challenge of scattered, unreliable academic materials by delivering a centralized, dependable learning repository with verified curriculum materials.</a:t>
            </a:r>
          </a:p>
          <a:p>
            <a:pPr>
              <a:defRPr sz="919" b="1">
                <a:solidFill>
                  <a:srgbClr val="63279B"/>
                </a:solidFill>
                <a:latin typeface="Segoe UI"/>
              </a:defRPr>
            </a:pPr>
            <a:r>
              <a:t>• Verified syllabus alignment across 5 core engineering disciplines  • Direct peer-to-peer contribution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64408"/>
            <a:ext cx="10728655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3401568"/>
            <a:ext cx="182880" cy="107899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34440" y="3374136"/>
            <a:ext cx="9905695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⚡ Architectural &amp; Operational Simplicity</a:t>
            </a:r>
          </a:p>
          <a:p>
            <a:pPr>
              <a:defRPr sz="1019">
                <a:solidFill>
                  <a:srgbClr val="475569"/>
                </a:solidFill>
                <a:latin typeface="Segoe UI"/>
              </a:defRPr>
            </a:pPr>
            <a:r>
              <a:t>By combining semantic HTML5, modern CSS tokens, vanilla JavaScript, Express.js v5, and embedded SQLite, the portal delivers lightning-fast sub-millisecond response times with zero build overhead.</a:t>
            </a:r>
          </a:p>
          <a:p>
            <a:pPr>
              <a:defRPr sz="919" b="1">
                <a:solidFill>
                  <a:srgbClr val="EA580C"/>
                </a:solidFill>
                <a:latin typeface="Segoe UI"/>
              </a:defRPr>
            </a:pPr>
            <a:r>
              <a:t>• Zero framework bloat  • Synchronous sub-millisecond SQLite queries  • 100% portable file database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37176"/>
            <a:ext cx="10728655" cy="13533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68680" y="4974336"/>
            <a:ext cx="182880" cy="107899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34440" y="4946904"/>
            <a:ext cx="9905695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2D124D"/>
                </a:solidFill>
                <a:latin typeface="Segoe UI"/>
              </a:defRPr>
            </a:pPr>
            <a:r>
              <a:t>🌟 Significant Real-World Impact</a:t>
            </a:r>
          </a:p>
          <a:p>
            <a:pPr>
              <a:defRPr sz="1019">
                <a:solidFill>
                  <a:srgbClr val="475569"/>
                </a:solidFill>
                <a:latin typeface="Segoe UI"/>
              </a:defRPr>
            </a:pPr>
            <a:r>
              <a:t>With features like interactive code copying, instant text note generation, and clean multipage print-to-PDF export, the platform equips college students with the tools to excel in examinations and lab practicals.</a:t>
            </a:r>
          </a:p>
          <a:p>
            <a:pPr>
              <a:defRPr sz="919" b="1">
                <a:solidFill>
                  <a:srgbClr val="7C3AED"/>
                </a:solidFill>
                <a:latin typeface="Segoe UI"/>
              </a:defRPr>
            </a:pPr>
            <a:r>
              <a:t>• Faster exam revisions  • Active hands-on programming practice  • Clean offline PDF revision guides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hankyou_bg_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011680" y="1188720"/>
            <a:ext cx="8168335" cy="4480560"/>
          </a:xfrm>
          <a:prstGeom prst="roundRect">
            <a:avLst/>
          </a:prstGeom>
          <a:solidFill>
            <a:srgbClr val="1A0C30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0" y="1463040"/>
            <a:ext cx="76196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defRPr sz="2000" b="1">
                <a:solidFill>
                  <a:srgbClr val="DDD6FE"/>
                </a:solidFill>
                <a:latin typeface="Segoe UI"/>
              </a:defRPr>
            </a:pPr>
            <a:r>
              <a:t>Student Study Resource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2971800"/>
            <a:ext cx="4144975" cy="43891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💡 QUESTIONS &amp; ANSWERS / PROJECT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611880"/>
            <a:ext cx="76196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C4B5FD"/>
                </a:solidFill>
                <a:latin typeface="Segoe UI"/>
              </a:defRPr>
            </a:pPr>
            <a:r>
              <a:t>Presented by:</a:t>
            </a:r>
          </a:p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S. Keerthana  •  G. Kirthimaha  •  K. Keerthana  •  R. Madhu Shri  •  S. Madhumita</a:t>
            </a:r>
          </a:p>
          <a:p>
            <a:pPr algn="ctr">
              <a:defRPr sz="1150" b="1">
                <a:solidFill>
                  <a:srgbClr val="EA580C"/>
                </a:solidFill>
                <a:latin typeface="Segoe UI"/>
              </a:defRPr>
            </a:pPr>
            <a:r>
              <a:t>DEPARTMENT OF INFORMATION TECHNOLOGY</a:t>
            </a:r>
          </a:p>
          <a:p>
            <a:pPr algn="ctr">
              <a:defRPr sz="1100">
                <a:solidFill>
                  <a:srgbClr val="EEEAF9"/>
                </a:solidFill>
                <a:latin typeface="Segoe UI"/>
              </a:defRPr>
            </a:pPr>
            <a:r>
              <a:t>ER. PERUMAL MANIMEKALAI COLLEGE OF ENGINEERING, HOSUR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2384</Words>
  <Application>Microsoft Office PowerPoint</Application>
  <PresentationFormat>Widescreen</PresentationFormat>
  <Paragraphs>312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Keerthana S</cp:lastModifiedBy>
  <cp:revision>2</cp:revision>
  <dcterms:created xsi:type="dcterms:W3CDTF">2013-01-27T09:14:16Z</dcterms:created>
  <dcterms:modified xsi:type="dcterms:W3CDTF">2026-10-24T04:29:02Z</dcterms:modified>
  <cp:category/>
</cp:coreProperties>
</file>